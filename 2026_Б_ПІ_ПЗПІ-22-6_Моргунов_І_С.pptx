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5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0" r:id="rId3"/>
    <p:sldId id="313" r:id="rId4"/>
    <p:sldId id="314" r:id="rId5"/>
    <p:sldId id="315" r:id="rId6"/>
    <p:sldId id="323" r:id="rId7"/>
    <p:sldId id="316" r:id="rId8"/>
    <p:sldId id="318" r:id="rId9"/>
    <p:sldId id="317" r:id="rId10"/>
    <p:sldId id="324" r:id="rId11"/>
    <p:sldId id="328" r:id="rId12"/>
    <p:sldId id="326" r:id="rId13"/>
    <p:sldId id="319" r:id="rId14"/>
    <p:sldId id="327" r:id="rId15"/>
    <p:sldId id="321" r:id="rId16"/>
    <p:sldId id="320" r:id="rId17"/>
    <p:sldId id="329" r:id="rId18"/>
  </p:sldIdLst>
  <p:sldSz cx="9144000" cy="5143500" type="screen16x9"/>
  <p:notesSz cx="6858000" cy="9144000"/>
  <p:embeddedFontLst>
    <p:embeddedFont>
      <p:font typeface="Commissioner" panose="020B0604020202020204" charset="0"/>
      <p:regular r:id="rId21"/>
      <p:bold r:id="rId22"/>
    </p:embeddedFont>
    <p:embeddedFont>
      <p:font typeface="Golos Text" panose="020B0604020202020204" charset="0"/>
      <p:regular r:id="rId23"/>
      <p:bold r:id="rId24"/>
    </p:embeddedFont>
    <p:embeddedFont>
      <p:font typeface="Golos Text SemiBold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1414"/>
    <a:srgbClr val="F1852B"/>
    <a:srgbClr val="ED4141"/>
    <a:srgbClr val="FF6B6B"/>
    <a:srgbClr val="FFC000"/>
    <a:srgbClr val="66FF66"/>
    <a:srgbClr val="2F5597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86130F-D0DE-4052-9F81-2F2F56536741}">
  <a:tblStyle styleId="{3886130F-D0DE-4052-9F81-2F2F565367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6" d="100"/>
          <a:sy n="106" d="100"/>
        </p:scale>
        <p:origin x="3806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>
            <a:extLst>
              <a:ext uri="{FF2B5EF4-FFF2-40B4-BE49-F238E27FC236}">
                <a16:creationId xmlns:a16="http://schemas.microsoft.com/office/drawing/2014/main" id="{2FD005CB-2238-08B7-15BF-DBC9EB3BAC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CFE885A-559E-7959-70B1-2BCBEB50B5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A2EA8-CCF3-4970-A9AA-9997681C9EC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16A3A5A-4872-8CDA-2E06-F0F570B64D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C5D2AC7-63D1-D92F-5AB3-769DBE06D6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7CB10-6D8B-40FC-8DD0-F5B6315D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059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обумовлена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такими факторами: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Зростанням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ролі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 як основного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обміну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інформацією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спілкування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спільнот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сучасному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суспільстві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Потребою у створенні альтернатив існуючим глобальним соціальним мережам, що належать великим технологічним корпораціям з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орієнтацю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європейські підходи до прозорості, захисту персональних даних та цифрової незалежності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Необхідністю вдосконалення систем рекомендацій для подолання проблеми одноманітного контенту та формування більш різноманітної інформаційної стрічки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Популярністю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персоналізованого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контенту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штучного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інтелекту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підвищення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якості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користувацького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досвіду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076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79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67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5851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2311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7325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068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" name="Місце для нижнього колонтитула 1">
            <a:extLst>
              <a:ext uri="{FF2B5EF4-FFF2-40B4-BE49-F238E27FC236}">
                <a16:creationId xmlns:a16="http://schemas.microsoft.com/office/drawing/2014/main" id="{6C7A816A-2690-4A19-A8FB-14212DDC47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22455" y="4688132"/>
            <a:ext cx="1499089" cy="31029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Місце для номера слайда 2">
            <a:extLst>
              <a:ext uri="{FF2B5EF4-FFF2-40B4-BE49-F238E27FC236}">
                <a16:creationId xmlns:a16="http://schemas.microsoft.com/office/drawing/2014/main" id="{5F93815C-F23B-9401-BE0D-BC34897AE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35919" y="472379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1A442-F593-47BC-B30B-7A4E30DC51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ижнього колонтитула 1">
            <a:extLst>
              <a:ext uri="{FF2B5EF4-FFF2-40B4-BE49-F238E27FC236}">
                <a16:creationId xmlns:a16="http://schemas.microsoft.com/office/drawing/2014/main" id="{045B248C-65F0-875F-BB4B-5A7C9A6BCE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31248" y="4652963"/>
            <a:ext cx="1481504" cy="3015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Місце для номера слайда 2">
            <a:extLst>
              <a:ext uri="{FF2B5EF4-FFF2-40B4-BE49-F238E27FC236}">
                <a16:creationId xmlns:a16="http://schemas.microsoft.com/office/drawing/2014/main" id="{60DBD0BB-DFC6-CE8F-73A9-9F0542579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56888" y="46529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1A442-F593-47BC-B30B-7A4E30DC51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subTitle" idx="1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2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3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4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7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ubTitle" idx="8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 dirty="0"/>
          </a:p>
        </p:txBody>
      </p:sp>
      <p:sp>
        <p:nvSpPr>
          <p:cNvPr id="249" name="Google Shape;249;p31"/>
          <p:cNvSpPr txBox="1">
            <a:spLocks noGrp="1"/>
          </p:cNvSpPr>
          <p:nvPr>
            <p:ph type="subTitle" idx="9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subTitle" idx="13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14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subTitle" idx="15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" name="Місце для нижнього колонтитула 1">
            <a:extLst>
              <a:ext uri="{FF2B5EF4-FFF2-40B4-BE49-F238E27FC236}">
                <a16:creationId xmlns:a16="http://schemas.microsoft.com/office/drawing/2014/main" id="{81FBE3A1-4937-E9A8-0E59-FE95C4BB74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29050" y="4723790"/>
            <a:ext cx="1085850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Місце для номера слайда 2">
            <a:extLst>
              <a:ext uri="{FF2B5EF4-FFF2-40B4-BE49-F238E27FC236}">
                <a16:creationId xmlns:a16="http://schemas.microsoft.com/office/drawing/2014/main" id="{9243DA8B-04E6-7955-5B6B-DDEA91C26C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36019" y="474888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1A442-F593-47BC-B30B-7A4E30DC51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ижнього колонтитула 1">
            <a:extLst>
              <a:ext uri="{FF2B5EF4-FFF2-40B4-BE49-F238E27FC236}">
                <a16:creationId xmlns:a16="http://schemas.microsoft.com/office/drawing/2014/main" id="{D55B7C5E-EC6D-AB39-8E1A-5C1B8204C5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65730" y="4575338"/>
            <a:ext cx="1134208" cy="274637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ижнього колонтитула 1">
            <a:extLst>
              <a:ext uri="{FF2B5EF4-FFF2-40B4-BE49-F238E27FC236}">
                <a16:creationId xmlns:a16="http://schemas.microsoft.com/office/drawing/2014/main" id="{C886B9EA-B241-10D6-B0FB-C34C784C06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06459" y="4732093"/>
            <a:ext cx="1015510" cy="274637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  <p:sp>
        <p:nvSpPr>
          <p:cNvPr id="2" name="Місце для нижнього колонтитула 1">
            <a:extLst>
              <a:ext uri="{FF2B5EF4-FFF2-40B4-BE49-F238E27FC236}">
                <a16:creationId xmlns:a16="http://schemas.microsoft.com/office/drawing/2014/main" id="{88E7CCC4-F67C-8467-7F7A-B189E54BA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Місце для номера слайда 2">
            <a:extLst>
              <a:ext uri="{FF2B5EF4-FFF2-40B4-BE49-F238E27FC236}">
                <a16:creationId xmlns:a16="http://schemas.microsoft.com/office/drawing/2014/main" id="{2FE4D179-C59A-0CBC-204F-E61BCBA24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1A442-F593-47BC-B30B-7A4E30DC514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7" r:id="rId3"/>
    <p:sldLayoutId id="2147483679" r:id="rId4"/>
    <p:sldLayoutId id="2147483680" r:id="rId5"/>
  </p:sldLayoutIdLst>
  <p:transition spd="slow">
    <p:wip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Picture 2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73736"/>
            <a:ext cx="2130552" cy="393192"/>
          </a:xfrm>
          <a:prstGeom prst="rect">
            <a:avLst/>
          </a:prstGeom>
        </p:spPr>
      </p:pic>
      <p:pic>
        <p:nvPicPr>
          <p:cNvPr id="294" name="Picture 29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27432"/>
            <a:ext cx="1929384" cy="438912"/>
          </a:xfrm>
          <a:prstGeom prst="rect">
            <a:avLst/>
          </a:prstGeom>
        </p:spPr>
      </p:pic>
      <p:pic>
        <p:nvPicPr>
          <p:cNvPr id="295" name="Picture 29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7" y="4050791"/>
            <a:ext cx="859536" cy="585216"/>
          </a:xfrm>
          <a:prstGeom prst="rect">
            <a:avLst/>
          </a:prstGeom>
        </p:spPr>
      </p:pic>
      <p:sp>
        <p:nvSpPr>
          <p:cNvPr id="296" name="Rectangle 295"/>
          <p:cNvSpPr/>
          <p:nvPr/>
        </p:nvSpPr>
        <p:spPr>
          <a:xfrm>
            <a:off x="8613648" y="502920"/>
            <a:ext cx="18288" cy="109728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726679" y="502920"/>
            <a:ext cx="905256" cy="18288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Google Shape;292;p41">
            <a:extLst>
              <a:ext uri="{FF2B5EF4-FFF2-40B4-BE49-F238E27FC236}">
                <a16:creationId xmlns:a16="http://schemas.microsoft.com/office/drawing/2014/main" id="{9ADD6378-E4AC-0426-DF64-3B549A546C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05475" y="2614517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Моргунов Ігор Сергійович, ПЗПІ-22-6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ПІ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Бондарєв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Володимир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Михайлович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91;p41">
            <a:extLst>
              <a:ext uri="{FF2B5EF4-FFF2-40B4-BE49-F238E27FC236}">
                <a16:creationId xmlns:a16="http://schemas.microsoft.com/office/drawing/2014/main" id="{DC70B3D1-2778-42DC-CF67-57D845EDE7E1}"/>
              </a:ext>
            </a:extLst>
          </p:cNvPr>
          <p:cNvSpPr txBox="1">
            <a:spLocks/>
          </p:cNvSpPr>
          <p:nvPr/>
        </p:nvSpPr>
        <p:spPr>
          <a:xfrm>
            <a:off x="713225" y="524599"/>
            <a:ext cx="5694450" cy="1641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3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для спільного перегляду відео та фільмів онлайн у реальному часі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292;p41">
            <a:extLst>
              <a:ext uri="{FF2B5EF4-FFF2-40B4-BE49-F238E27FC236}">
                <a16:creationId xmlns:a16="http://schemas.microsoft.com/office/drawing/2014/main" id="{23F819F8-5E28-126C-569E-F032301438AE}"/>
              </a:ext>
            </a:extLst>
          </p:cNvPr>
          <p:cNvSpPr txBox="1">
            <a:spLocks/>
          </p:cNvSpPr>
          <p:nvPr/>
        </p:nvSpPr>
        <p:spPr>
          <a:xfrm>
            <a:off x="816095" y="3480446"/>
            <a:ext cx="1515625" cy="43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155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185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185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185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185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185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185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185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185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pPr marL="0" indent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липня 2026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angle 527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9" name="Picture 5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530" name="TextBox 529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" name="Заголовок 14">
            <a:extLst>
              <a:ext uri="{FF2B5EF4-FFF2-40B4-BE49-F238E27FC236}">
                <a16:creationId xmlns:a16="http://schemas.microsoft.com/office/drawing/2014/main" id="{5BC2C2A8-DCAA-D9A4-C1E4-4F94A2D50CCA}"/>
              </a:ext>
            </a:extLst>
          </p:cNvPr>
          <p:cNvSpPr txBox="1">
            <a:spLocks/>
          </p:cNvSpPr>
          <p:nvPr/>
        </p:nvSpPr>
        <p:spPr>
          <a:xfrm>
            <a:off x="402372" y="236484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algn="l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54B21-4484-11F9-B172-B9844D77BBA9}"/>
              </a:ext>
            </a:extLst>
          </p:cNvPr>
          <p:cNvSpPr txBox="1"/>
          <p:nvPr/>
        </p:nvSpPr>
        <p:spPr>
          <a:xfrm>
            <a:off x="713232" y="1092708"/>
            <a:ext cx="7406640" cy="4114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50" b="0" dirty="0" err="1">
                <a:solidFill>
                  <a:srgbClr val="4B4B4B"/>
                </a:solidFill>
                <a:latin typeface="Times New Roman"/>
              </a:rPr>
              <a:t>Створити</a:t>
            </a:r>
            <a:r>
              <a:rPr sz="14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450" b="0" dirty="0" err="1">
                <a:solidFill>
                  <a:srgbClr val="4B4B4B"/>
                </a:solidFill>
                <a:latin typeface="Times New Roman"/>
              </a:rPr>
              <a:t>зручну</a:t>
            </a:r>
            <a:r>
              <a:rPr sz="14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450" b="0" dirty="0" err="1">
                <a:solidFill>
                  <a:srgbClr val="4B4B4B"/>
                </a:solidFill>
                <a:latin typeface="Times New Roman"/>
              </a:rPr>
              <a:t>вебплатформу</a:t>
            </a:r>
            <a:r>
              <a:rPr sz="14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450" b="0" dirty="0" err="1">
                <a:solidFill>
                  <a:srgbClr val="4B4B4B"/>
                </a:solidFill>
                <a:latin typeface="Times New Roman"/>
              </a:rPr>
              <a:t>для</a:t>
            </a:r>
            <a:r>
              <a:rPr sz="14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450" b="0" dirty="0" err="1">
                <a:solidFill>
                  <a:srgbClr val="4B4B4B"/>
                </a:solidFill>
                <a:latin typeface="Times New Roman"/>
              </a:rPr>
              <a:t>спільного</a:t>
            </a:r>
            <a:r>
              <a:rPr sz="14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450" b="0" dirty="0" err="1">
                <a:solidFill>
                  <a:srgbClr val="4B4B4B"/>
                </a:solidFill>
                <a:latin typeface="Times New Roman"/>
              </a:rPr>
              <a:t>перегляду</a:t>
            </a:r>
            <a:r>
              <a:rPr sz="14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450" b="0" dirty="0" err="1">
                <a:solidFill>
                  <a:srgbClr val="4B4B4B"/>
                </a:solidFill>
                <a:latin typeface="Times New Roman"/>
              </a:rPr>
              <a:t>відео</a:t>
            </a:r>
            <a:r>
              <a:rPr sz="1450" b="0" dirty="0">
                <a:solidFill>
                  <a:srgbClr val="4B4B4B"/>
                </a:solidFill>
                <a:latin typeface="Times New Roman"/>
              </a:rPr>
              <a:t> в </a:t>
            </a:r>
            <a:r>
              <a:rPr sz="1450" b="0" dirty="0" err="1">
                <a:solidFill>
                  <a:srgbClr val="4B4B4B"/>
                </a:solidFill>
                <a:latin typeface="Times New Roman"/>
              </a:rPr>
              <a:t>реальному</a:t>
            </a:r>
            <a:r>
              <a:rPr sz="14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450" b="0" dirty="0" err="1">
                <a:solidFill>
                  <a:srgbClr val="4B4B4B"/>
                </a:solidFill>
                <a:latin typeface="Times New Roman"/>
              </a:rPr>
              <a:t>часі</a:t>
            </a:r>
            <a:endParaRPr sz="1450" b="0" dirty="0">
              <a:solidFill>
                <a:srgbClr val="4B4B4B"/>
              </a:solidFill>
              <a:latin typeface="Times New Roman"/>
            </a:endParaRPr>
          </a:p>
        </p:txBody>
      </p:sp>
      <p:sp>
        <p:nvSpPr>
          <p:cNvPr id="5" name="Rounded Rectangle 532">
            <a:extLst>
              <a:ext uri="{FF2B5EF4-FFF2-40B4-BE49-F238E27FC236}">
                <a16:creationId xmlns:a16="http://schemas.microsoft.com/office/drawing/2014/main" id="{EDDA443D-28CF-635E-DCE0-A19A33134FAE}"/>
              </a:ext>
            </a:extLst>
          </p:cNvPr>
          <p:cNvSpPr/>
          <p:nvPr/>
        </p:nvSpPr>
        <p:spPr>
          <a:xfrm>
            <a:off x="694944" y="1572768"/>
            <a:ext cx="7635240" cy="914400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33">
            <a:extLst>
              <a:ext uri="{FF2B5EF4-FFF2-40B4-BE49-F238E27FC236}">
                <a16:creationId xmlns:a16="http://schemas.microsoft.com/office/drawing/2014/main" id="{8D4DA75E-F9C7-9BD4-AA81-8D55261D9930}"/>
              </a:ext>
            </a:extLst>
          </p:cNvPr>
          <p:cNvSpPr/>
          <p:nvPr/>
        </p:nvSpPr>
        <p:spPr>
          <a:xfrm>
            <a:off x="722376" y="1573451"/>
            <a:ext cx="109728" cy="914400"/>
          </a:xfrm>
          <a:prstGeom prst="rect">
            <a:avLst/>
          </a:prstGeom>
          <a:solidFill>
            <a:srgbClr val="EC8B2A"/>
          </a:solidFill>
          <a:ln>
            <a:solidFill>
              <a:srgbClr val="E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DCCD7-460E-CDF1-163E-BA228D4D707C}"/>
              </a:ext>
            </a:extLst>
          </p:cNvPr>
          <p:cNvSpPr txBox="1"/>
          <p:nvPr/>
        </p:nvSpPr>
        <p:spPr>
          <a:xfrm>
            <a:off x="941832" y="1737360"/>
            <a:ext cx="205740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900" b="1">
                <a:solidFill>
                  <a:srgbClr val="1F4A67"/>
                </a:solidFill>
                <a:latin typeface="Times New Roman"/>
              </a:rPr>
              <a:t>WatchTogether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5FB30-C4A2-68A3-B0FA-DEC9B99F7EC1}"/>
              </a:ext>
            </a:extLst>
          </p:cNvPr>
          <p:cNvSpPr txBox="1"/>
          <p:nvPr/>
        </p:nvSpPr>
        <p:spPr>
          <a:xfrm>
            <a:off x="2907792" y="1728216"/>
            <a:ext cx="525780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 err="1">
                <a:solidFill>
                  <a:srgbClr val="1A1A1A"/>
                </a:solidFill>
                <a:latin typeface="Times New Roman"/>
              </a:rPr>
              <a:t>один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простір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для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перегляду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,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синхронізації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та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спілкування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без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сторонніх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розширень</a:t>
            </a:r>
            <a:endParaRPr sz="1600" b="0" dirty="0">
              <a:solidFill>
                <a:srgbClr val="1A1A1A"/>
              </a:solidFill>
              <a:latin typeface="Times New Roman"/>
            </a:endParaRPr>
          </a:p>
        </p:txBody>
      </p:sp>
      <p:sp>
        <p:nvSpPr>
          <p:cNvPr id="10" name="Rounded Rectangle 536">
            <a:extLst>
              <a:ext uri="{FF2B5EF4-FFF2-40B4-BE49-F238E27FC236}">
                <a16:creationId xmlns:a16="http://schemas.microsoft.com/office/drawing/2014/main" id="{B29F9107-67A6-B36B-5BD1-06181E6D444E}"/>
              </a:ext>
            </a:extLst>
          </p:cNvPr>
          <p:cNvSpPr/>
          <p:nvPr/>
        </p:nvSpPr>
        <p:spPr>
          <a:xfrm>
            <a:off x="713232" y="2697480"/>
            <a:ext cx="23957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537">
            <a:extLst>
              <a:ext uri="{FF2B5EF4-FFF2-40B4-BE49-F238E27FC236}">
                <a16:creationId xmlns:a16="http://schemas.microsoft.com/office/drawing/2014/main" id="{C7B6E24D-1E09-38D6-159C-C021B925CD8D}"/>
              </a:ext>
            </a:extLst>
          </p:cNvPr>
          <p:cNvSpPr/>
          <p:nvPr/>
        </p:nvSpPr>
        <p:spPr>
          <a:xfrm>
            <a:off x="850392" y="2852928"/>
            <a:ext cx="530352" cy="530352"/>
          </a:xfrm>
          <a:prstGeom prst="ellipse">
            <a:avLst/>
          </a:prstGeom>
          <a:solidFill>
            <a:srgbClr val="0074A0"/>
          </a:solidFill>
          <a:ln>
            <a:solidFill>
              <a:srgbClr val="00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63375-B4D3-FDC6-E754-C43C815E732C}"/>
              </a:ext>
            </a:extLst>
          </p:cNvPr>
          <p:cNvSpPr txBox="1"/>
          <p:nvPr/>
        </p:nvSpPr>
        <p:spPr>
          <a:xfrm>
            <a:off x="850392" y="2889504"/>
            <a:ext cx="530352" cy="42062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F8D57D-467E-8BFB-CA4E-A3BAD5B9677F}"/>
              </a:ext>
            </a:extLst>
          </p:cNvPr>
          <p:cNvSpPr txBox="1"/>
          <p:nvPr/>
        </p:nvSpPr>
        <p:spPr>
          <a:xfrm>
            <a:off x="1481328" y="2843784"/>
            <a:ext cx="1499616" cy="29260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4A67"/>
                </a:solidFill>
                <a:latin typeface="Times New Roman"/>
              </a:rPr>
              <a:t>Синхронізація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71BD5-78F8-0C0F-D2A0-051ADD52D000}"/>
              </a:ext>
            </a:extLst>
          </p:cNvPr>
          <p:cNvSpPr txBox="1"/>
          <p:nvPr/>
        </p:nvSpPr>
        <p:spPr>
          <a:xfrm>
            <a:off x="1481328" y="3227832"/>
            <a:ext cx="1499616" cy="61401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dirty="0" err="1">
                <a:solidFill>
                  <a:srgbClr val="4B4B4B"/>
                </a:solidFill>
                <a:latin typeface="Times New Roman"/>
              </a:rPr>
              <a:t>одночасні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PLAY, PAUSE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та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SEEK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для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всіх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учасників</a:t>
            </a:r>
            <a:endParaRPr sz="1250" b="0" dirty="0">
              <a:solidFill>
                <a:srgbClr val="4B4B4B"/>
              </a:solidFill>
              <a:latin typeface="Times New Roman"/>
            </a:endParaRPr>
          </a:p>
        </p:txBody>
      </p:sp>
      <p:sp>
        <p:nvSpPr>
          <p:cNvPr id="15" name="Rounded Rectangle 541">
            <a:extLst>
              <a:ext uri="{FF2B5EF4-FFF2-40B4-BE49-F238E27FC236}">
                <a16:creationId xmlns:a16="http://schemas.microsoft.com/office/drawing/2014/main" id="{CD772E6F-CF25-F5ED-78F0-5D248A92FD74}"/>
              </a:ext>
            </a:extLst>
          </p:cNvPr>
          <p:cNvSpPr/>
          <p:nvPr/>
        </p:nvSpPr>
        <p:spPr>
          <a:xfrm>
            <a:off x="3401568" y="2697480"/>
            <a:ext cx="255117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542">
            <a:extLst>
              <a:ext uri="{FF2B5EF4-FFF2-40B4-BE49-F238E27FC236}">
                <a16:creationId xmlns:a16="http://schemas.microsoft.com/office/drawing/2014/main" id="{D2F6E3DF-97DF-5569-2EE2-A1CB3AABFFF2}"/>
              </a:ext>
            </a:extLst>
          </p:cNvPr>
          <p:cNvSpPr/>
          <p:nvPr/>
        </p:nvSpPr>
        <p:spPr>
          <a:xfrm>
            <a:off x="3538728" y="2852928"/>
            <a:ext cx="530352" cy="530352"/>
          </a:xfrm>
          <a:prstGeom prst="ellipse">
            <a:avLst/>
          </a:prstGeom>
          <a:solidFill>
            <a:srgbClr val="0074A0"/>
          </a:solidFill>
          <a:ln>
            <a:solidFill>
              <a:srgbClr val="00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4F0352-DB7A-012C-ED68-C37248F2581A}"/>
              </a:ext>
            </a:extLst>
          </p:cNvPr>
          <p:cNvSpPr txBox="1"/>
          <p:nvPr/>
        </p:nvSpPr>
        <p:spPr>
          <a:xfrm>
            <a:off x="3538728" y="2889504"/>
            <a:ext cx="530352" cy="42062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F89BA3-0BF5-DFF5-350B-7B6B97B06787}"/>
              </a:ext>
            </a:extLst>
          </p:cNvPr>
          <p:cNvSpPr txBox="1"/>
          <p:nvPr/>
        </p:nvSpPr>
        <p:spPr>
          <a:xfrm>
            <a:off x="4069080" y="2843784"/>
            <a:ext cx="1499616" cy="29260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600" b="1" dirty="0" err="1">
                <a:solidFill>
                  <a:srgbClr val="1F4A67"/>
                </a:solidFill>
                <a:latin typeface="Times New Roman"/>
              </a:rPr>
              <a:t>Кімнати</a:t>
            </a:r>
            <a:r>
              <a:rPr sz="1600" b="1" dirty="0">
                <a:solidFill>
                  <a:srgbClr val="1F4A67"/>
                </a:solidFill>
                <a:latin typeface="Times New Roman"/>
              </a:rPr>
              <a:t> </a:t>
            </a:r>
            <a:r>
              <a:rPr sz="1600" b="1" dirty="0" err="1">
                <a:solidFill>
                  <a:srgbClr val="1F4A67"/>
                </a:solidFill>
                <a:latin typeface="Times New Roman"/>
              </a:rPr>
              <a:t>перегляду</a:t>
            </a:r>
            <a:endParaRPr sz="1600" b="1" dirty="0">
              <a:solidFill>
                <a:srgbClr val="1F4A67"/>
              </a:solidFill>
              <a:latin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5D4344-B1F7-4F63-9D7E-5AEF93B44F02}"/>
              </a:ext>
            </a:extLst>
          </p:cNvPr>
          <p:cNvSpPr txBox="1"/>
          <p:nvPr/>
        </p:nvSpPr>
        <p:spPr>
          <a:xfrm>
            <a:off x="4087368" y="3227832"/>
            <a:ext cx="1499616" cy="61401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dirty="0" err="1">
                <a:solidFill>
                  <a:srgbClr val="4B4B4B"/>
                </a:solidFill>
                <a:latin typeface="Times New Roman"/>
              </a:rPr>
              <a:t>публічні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та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приватні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сеанси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з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кодом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або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посиланням</a:t>
            </a:r>
            <a:endParaRPr sz="1250" b="0" dirty="0">
              <a:solidFill>
                <a:srgbClr val="4B4B4B"/>
              </a:solidFill>
              <a:latin typeface="Times New Roman"/>
            </a:endParaRPr>
          </a:p>
        </p:txBody>
      </p:sp>
      <p:sp>
        <p:nvSpPr>
          <p:cNvPr id="20" name="Rounded Rectangle 546">
            <a:extLst>
              <a:ext uri="{FF2B5EF4-FFF2-40B4-BE49-F238E27FC236}">
                <a16:creationId xmlns:a16="http://schemas.microsoft.com/office/drawing/2014/main" id="{25EF611E-B837-4B9C-3E76-B88FFA86C377}"/>
              </a:ext>
            </a:extLst>
          </p:cNvPr>
          <p:cNvSpPr/>
          <p:nvPr/>
        </p:nvSpPr>
        <p:spPr>
          <a:xfrm>
            <a:off x="6089904" y="2697480"/>
            <a:ext cx="23957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547">
            <a:extLst>
              <a:ext uri="{FF2B5EF4-FFF2-40B4-BE49-F238E27FC236}">
                <a16:creationId xmlns:a16="http://schemas.microsoft.com/office/drawing/2014/main" id="{FB684FF3-C524-70F8-4C44-39F09D06E870}"/>
              </a:ext>
            </a:extLst>
          </p:cNvPr>
          <p:cNvSpPr/>
          <p:nvPr/>
        </p:nvSpPr>
        <p:spPr>
          <a:xfrm>
            <a:off x="6227064" y="2852928"/>
            <a:ext cx="530352" cy="530352"/>
          </a:xfrm>
          <a:prstGeom prst="ellipse">
            <a:avLst/>
          </a:prstGeom>
          <a:solidFill>
            <a:srgbClr val="0074A0"/>
          </a:solidFill>
          <a:ln>
            <a:solidFill>
              <a:srgbClr val="00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240B40-085D-370D-0915-C95257C36C12}"/>
              </a:ext>
            </a:extLst>
          </p:cNvPr>
          <p:cNvSpPr txBox="1"/>
          <p:nvPr/>
        </p:nvSpPr>
        <p:spPr>
          <a:xfrm>
            <a:off x="6227064" y="2889504"/>
            <a:ext cx="530352" cy="42062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1301FE-0792-F4A0-8829-B4E90E01B06F}"/>
              </a:ext>
            </a:extLst>
          </p:cNvPr>
          <p:cNvSpPr txBox="1"/>
          <p:nvPr/>
        </p:nvSpPr>
        <p:spPr>
          <a:xfrm>
            <a:off x="6858000" y="2843784"/>
            <a:ext cx="1499616" cy="29260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4A67"/>
                </a:solidFill>
                <a:latin typeface="Times New Roman"/>
              </a:rPr>
              <a:t>Комунікація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CD5672-E41C-A853-5ADB-36A1159F3EB5}"/>
              </a:ext>
            </a:extLst>
          </p:cNvPr>
          <p:cNvSpPr txBox="1"/>
          <p:nvPr/>
        </p:nvSpPr>
        <p:spPr>
          <a:xfrm>
            <a:off x="6858000" y="3227832"/>
            <a:ext cx="1490472" cy="61401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dirty="0" err="1">
                <a:solidFill>
                  <a:srgbClr val="4B4B4B"/>
                </a:solidFill>
                <a:latin typeface="Times New Roman"/>
              </a:rPr>
              <a:t>чат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,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запрошення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та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події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кімнати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у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реальному</a:t>
            </a:r>
            <a:r>
              <a:rPr sz="1250" b="0" dirty="0">
                <a:solidFill>
                  <a:srgbClr val="4B4B4B"/>
                </a:solidFill>
                <a:latin typeface="Times New Roman"/>
              </a:rPr>
              <a:t> </a:t>
            </a:r>
            <a:r>
              <a:rPr sz="1250" b="0" dirty="0" err="1">
                <a:solidFill>
                  <a:srgbClr val="4B4B4B"/>
                </a:solidFill>
                <a:latin typeface="Times New Roman"/>
              </a:rPr>
              <a:t>часі</a:t>
            </a:r>
            <a:endParaRPr sz="1250" b="0" dirty="0">
              <a:solidFill>
                <a:srgbClr val="4B4B4B"/>
              </a:solidFill>
              <a:latin typeface="Times New Roman"/>
            </a:endParaRPr>
          </a:p>
        </p:txBody>
      </p:sp>
      <p:sp>
        <p:nvSpPr>
          <p:cNvPr id="25" name="Rounded Rectangle 551">
            <a:extLst>
              <a:ext uri="{FF2B5EF4-FFF2-40B4-BE49-F238E27FC236}">
                <a16:creationId xmlns:a16="http://schemas.microsoft.com/office/drawing/2014/main" id="{6D706688-B721-810D-AD83-18ED6AE22006}"/>
              </a:ext>
            </a:extLst>
          </p:cNvPr>
          <p:cNvSpPr/>
          <p:nvPr/>
        </p:nvSpPr>
        <p:spPr>
          <a:xfrm>
            <a:off x="1508760" y="4069080"/>
            <a:ext cx="6263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F5F914-8B78-694C-A985-9F749D56E3DA}"/>
              </a:ext>
            </a:extLst>
          </p:cNvPr>
          <p:cNvSpPr txBox="1"/>
          <p:nvPr/>
        </p:nvSpPr>
        <p:spPr>
          <a:xfrm>
            <a:off x="1691640" y="4133087"/>
            <a:ext cx="5897880" cy="23774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/>
            <a:r>
              <a:rPr sz="1220" b="0">
                <a:solidFill>
                  <a:srgbClr val="1F4A67"/>
                </a:solidFill>
                <a:latin typeface="Times New Roman"/>
              </a:rPr>
              <a:t>Ключовий результат: спільний онлайн-сеанс виглядає як перегляд “в одній кімнаті”.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angle 527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9" name="Picture 5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530" name="TextBox 529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" name="Заголовок 14">
            <a:extLst>
              <a:ext uri="{FF2B5EF4-FFF2-40B4-BE49-F238E27FC236}">
                <a16:creationId xmlns:a16="http://schemas.microsoft.com/office/drawing/2014/main" id="{12313DB6-4269-E8CA-7079-3A4AEA20560D}"/>
              </a:ext>
            </a:extLst>
          </p:cNvPr>
          <p:cNvSpPr txBox="1">
            <a:spLocks/>
          </p:cNvSpPr>
          <p:nvPr/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algn="l"/>
            <a:r>
              <a:rPr lang="uk-UA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проблеми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27;p55">
            <a:extLst>
              <a:ext uri="{FF2B5EF4-FFF2-40B4-BE49-F238E27FC236}">
                <a16:creationId xmlns:a16="http://schemas.microsoft.com/office/drawing/2014/main" id="{8AF48F70-DD1A-0926-3BEA-9B9C2A29F6C6}"/>
              </a:ext>
            </a:extLst>
          </p:cNvPr>
          <p:cNvSpPr txBox="1">
            <a:spLocks/>
          </p:cNvSpPr>
          <p:nvPr/>
        </p:nvSpPr>
        <p:spPr>
          <a:xfrm>
            <a:off x="713225" y="1297404"/>
            <a:ext cx="7489998" cy="2893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None/>
              <a:defRPr sz="14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Сучасні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сервіси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перегляду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відео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низку проблем: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більшість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орієнтована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переважно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індивідуальний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перегляд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спільного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перегляду часто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деяких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сервісах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виникають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стабільністю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синхронізації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рішень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потребує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встановлення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сторонніх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розширень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існуючі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завжди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поєднують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перегляд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відео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чат і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зручне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керування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кімнатою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одному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25972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7" name="Таблица 2376">
            <a:extLst>
              <a:ext uri="{FF2B5EF4-FFF2-40B4-BE49-F238E27FC236}">
                <a16:creationId xmlns:a16="http://schemas.microsoft.com/office/drawing/2014/main" id="{A2F69083-E51A-B09D-C6B9-DC13CA4B7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997004"/>
              </p:ext>
            </p:extLst>
          </p:nvPr>
        </p:nvGraphicFramePr>
        <p:xfrm>
          <a:off x="598142" y="903399"/>
          <a:ext cx="8222725" cy="4074160"/>
        </p:xfrm>
        <a:graphic>
          <a:graphicData uri="http://schemas.openxmlformats.org/drawingml/2006/table">
            <a:tbl>
              <a:tblPr firstRow="1" bandRow="1">
                <a:tableStyleId>{3886130F-D0DE-4052-9F81-2F2F56536741}</a:tableStyleId>
              </a:tblPr>
              <a:tblGrid>
                <a:gridCol w="2418042">
                  <a:extLst>
                    <a:ext uri="{9D8B030D-6E8A-4147-A177-3AD203B41FA5}">
                      <a16:colId xmlns:a16="http://schemas.microsoft.com/office/drawing/2014/main" val="3761681928"/>
                    </a:ext>
                  </a:extLst>
                </a:gridCol>
                <a:gridCol w="737669">
                  <a:extLst>
                    <a:ext uri="{9D8B030D-6E8A-4147-A177-3AD203B41FA5}">
                      <a16:colId xmlns:a16="http://schemas.microsoft.com/office/drawing/2014/main" val="553455765"/>
                    </a:ext>
                  </a:extLst>
                </a:gridCol>
                <a:gridCol w="770021">
                  <a:extLst>
                    <a:ext uri="{9D8B030D-6E8A-4147-A177-3AD203B41FA5}">
                      <a16:colId xmlns:a16="http://schemas.microsoft.com/office/drawing/2014/main" val="283198901"/>
                    </a:ext>
                  </a:extLst>
                </a:gridCol>
                <a:gridCol w="818148">
                  <a:extLst>
                    <a:ext uri="{9D8B030D-6E8A-4147-A177-3AD203B41FA5}">
                      <a16:colId xmlns:a16="http://schemas.microsoft.com/office/drawing/2014/main" val="3267926593"/>
                    </a:ext>
                  </a:extLst>
                </a:gridCol>
                <a:gridCol w="1161907">
                  <a:extLst>
                    <a:ext uri="{9D8B030D-6E8A-4147-A177-3AD203B41FA5}">
                      <a16:colId xmlns:a16="http://schemas.microsoft.com/office/drawing/2014/main" val="482652206"/>
                    </a:ext>
                  </a:extLst>
                </a:gridCol>
                <a:gridCol w="969400">
                  <a:extLst>
                    <a:ext uri="{9D8B030D-6E8A-4147-A177-3AD203B41FA5}">
                      <a16:colId xmlns:a16="http://schemas.microsoft.com/office/drawing/2014/main" val="2034051003"/>
                    </a:ext>
                  </a:extLst>
                </a:gridCol>
                <a:gridCol w="1347538">
                  <a:extLst>
                    <a:ext uri="{9D8B030D-6E8A-4147-A177-3AD203B41FA5}">
                      <a16:colId xmlns:a16="http://schemas.microsoft.com/office/drawing/2014/main" val="3668136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Критерій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Wparty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Discord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Hyperbeam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Mzelo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Розроблювана платформа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800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Створення кімнат перегляду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56267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Синхронний перегляд відео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744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Текстовий чат під час перегляду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804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Підтримка роботи в браузері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32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Запрошення інших користувачів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12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Персональні налаштування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Частково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721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Простий та зрозумілий інтерфейс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Частково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655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Орієнтація саме на спільний перегляд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Ні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Частково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956411"/>
                  </a:ext>
                </a:extLst>
              </a:tr>
            </a:tbl>
          </a:graphicData>
        </a:graphic>
      </p:graphicFrame>
      <p:sp>
        <p:nvSpPr>
          <p:cNvPr id="2378" name="Rectangle 2377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79" name="Picture 237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758" y="209392"/>
            <a:ext cx="859536" cy="585216"/>
          </a:xfrm>
          <a:prstGeom prst="rect">
            <a:avLst/>
          </a:prstGeom>
        </p:spPr>
      </p:pic>
      <p:sp>
        <p:nvSpPr>
          <p:cNvPr id="2380" name="TextBox 2379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8C11A9A-5CAE-4769-2952-E45B261E8FFD}"/>
              </a:ext>
            </a:extLst>
          </p:cNvPr>
          <p:cNvSpPr/>
          <p:nvPr/>
        </p:nvSpPr>
        <p:spPr>
          <a:xfrm>
            <a:off x="685800" y="23100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Аналіз конкурентів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496548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angle 527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9" name="Picture 5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351" y="356740"/>
            <a:ext cx="859536" cy="585216"/>
          </a:xfrm>
          <a:prstGeom prst="rect">
            <a:avLst/>
          </a:prstGeom>
        </p:spPr>
      </p:pic>
      <p:sp>
        <p:nvSpPr>
          <p:cNvPr id="530" name="TextBox 529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" name="Заголовок 14">
            <a:extLst>
              <a:ext uri="{FF2B5EF4-FFF2-40B4-BE49-F238E27FC236}">
                <a16:creationId xmlns:a16="http://schemas.microsoft.com/office/drawing/2014/main" id="{8F170259-5C23-B662-B30B-86D07AEBDAE8}"/>
              </a:ext>
            </a:extLst>
          </p:cNvPr>
          <p:cNvSpPr txBox="1">
            <a:spLocks/>
          </p:cNvSpPr>
          <p:nvPr/>
        </p:nvSpPr>
        <p:spPr>
          <a:xfrm>
            <a:off x="713250" y="374398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algn="l"/>
            <a:r>
              <a:rPr lang="uk-UA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7A663-AE17-943A-9806-2AB12AC90676}"/>
              </a:ext>
            </a:extLst>
          </p:cNvPr>
          <p:cNvSpPr txBox="1"/>
          <p:nvPr/>
        </p:nvSpPr>
        <p:spPr>
          <a:xfrm>
            <a:off x="749808" y="932688"/>
            <a:ext cx="740664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100">
                <a:solidFill>
                  <a:srgbClr val="565656"/>
                </a:solidFill>
                <a:latin typeface="Times New Roman"/>
              </a:defRPr>
            </a:pPr>
            <a:r>
              <a:t>Ключові функції, які необхідно реалізувати у WatchTogether</a:t>
            </a:r>
          </a:p>
        </p:txBody>
      </p:sp>
      <p:sp>
        <p:nvSpPr>
          <p:cNvPr id="6" name="Rounded Rectangle 531">
            <a:extLst>
              <a:ext uri="{FF2B5EF4-FFF2-40B4-BE49-F238E27FC236}">
                <a16:creationId xmlns:a16="http://schemas.microsoft.com/office/drawing/2014/main" id="{8034ABC5-8A41-748D-3F31-BC0641AF1F32}"/>
              </a:ext>
            </a:extLst>
          </p:cNvPr>
          <p:cNvSpPr/>
          <p:nvPr/>
        </p:nvSpPr>
        <p:spPr>
          <a:xfrm>
            <a:off x="740664" y="1527048"/>
            <a:ext cx="2331720" cy="1078992"/>
          </a:xfrm>
          <a:prstGeom prst="round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532">
            <a:extLst>
              <a:ext uri="{FF2B5EF4-FFF2-40B4-BE49-F238E27FC236}">
                <a16:creationId xmlns:a16="http://schemas.microsoft.com/office/drawing/2014/main" id="{632DE71B-F465-D6D7-C715-3A808DB62010}"/>
              </a:ext>
            </a:extLst>
          </p:cNvPr>
          <p:cNvSpPr/>
          <p:nvPr/>
        </p:nvSpPr>
        <p:spPr>
          <a:xfrm>
            <a:off x="713232" y="1481328"/>
            <a:ext cx="23317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533">
            <a:extLst>
              <a:ext uri="{FF2B5EF4-FFF2-40B4-BE49-F238E27FC236}">
                <a16:creationId xmlns:a16="http://schemas.microsoft.com/office/drawing/2014/main" id="{76912B23-D3A8-AF69-8EC5-018C29147EB5}"/>
              </a:ext>
            </a:extLst>
          </p:cNvPr>
          <p:cNvSpPr/>
          <p:nvPr/>
        </p:nvSpPr>
        <p:spPr>
          <a:xfrm>
            <a:off x="859536" y="1664208"/>
            <a:ext cx="502920" cy="502920"/>
          </a:xfrm>
          <a:prstGeom prst="ellipse">
            <a:avLst/>
          </a:prstGeom>
          <a:solidFill>
            <a:srgbClr val="F8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B1E9B-A254-36B4-DC73-F6E89D2A2AFD}"/>
              </a:ext>
            </a:extLst>
          </p:cNvPr>
          <p:cNvSpPr txBox="1"/>
          <p:nvPr/>
        </p:nvSpPr>
        <p:spPr>
          <a:xfrm>
            <a:off x="859536" y="1764792"/>
            <a:ext cx="502920" cy="1828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7194A-A965-5E38-38CC-1EB524B35910}"/>
              </a:ext>
            </a:extLst>
          </p:cNvPr>
          <p:cNvSpPr txBox="1"/>
          <p:nvPr/>
        </p:nvSpPr>
        <p:spPr>
          <a:xfrm>
            <a:off x="1472184" y="162763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124B6F"/>
                </a:solidFill>
                <a:latin typeface="Times New Roman"/>
              </a:defRPr>
            </a:pPr>
            <a:r>
              <a:t>Авторизація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F4E777-09C0-94BC-C575-E64FA8B8489E}"/>
              </a:ext>
            </a:extLst>
          </p:cNvPr>
          <p:cNvSpPr txBox="1"/>
          <p:nvPr/>
        </p:nvSpPr>
        <p:spPr>
          <a:xfrm>
            <a:off x="1499616" y="1984248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80">
                <a:solidFill>
                  <a:srgbClr val="565656"/>
                </a:solidFill>
                <a:latin typeface="Times New Roman"/>
              </a:defRPr>
            </a:pPr>
            <a:r>
              <a:t>реєстрація, вхід і редагування профілю</a:t>
            </a:r>
          </a:p>
        </p:txBody>
      </p:sp>
      <p:sp>
        <p:nvSpPr>
          <p:cNvPr id="13" name="Rounded Rectangle 537">
            <a:extLst>
              <a:ext uri="{FF2B5EF4-FFF2-40B4-BE49-F238E27FC236}">
                <a16:creationId xmlns:a16="http://schemas.microsoft.com/office/drawing/2014/main" id="{7587EDAF-6F48-793B-388B-F3482050301E}"/>
              </a:ext>
            </a:extLst>
          </p:cNvPr>
          <p:cNvSpPr/>
          <p:nvPr/>
        </p:nvSpPr>
        <p:spPr>
          <a:xfrm>
            <a:off x="3429000" y="1527048"/>
            <a:ext cx="2331720" cy="1078992"/>
          </a:xfrm>
          <a:prstGeom prst="round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538">
            <a:extLst>
              <a:ext uri="{FF2B5EF4-FFF2-40B4-BE49-F238E27FC236}">
                <a16:creationId xmlns:a16="http://schemas.microsoft.com/office/drawing/2014/main" id="{CE9947BF-BC51-5A39-8511-05FE05D7DC11}"/>
              </a:ext>
            </a:extLst>
          </p:cNvPr>
          <p:cNvSpPr/>
          <p:nvPr/>
        </p:nvSpPr>
        <p:spPr>
          <a:xfrm>
            <a:off x="3401568" y="1481328"/>
            <a:ext cx="23317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539">
            <a:extLst>
              <a:ext uri="{FF2B5EF4-FFF2-40B4-BE49-F238E27FC236}">
                <a16:creationId xmlns:a16="http://schemas.microsoft.com/office/drawing/2014/main" id="{F65463D5-8CE4-9948-3956-D36A0FB4082F}"/>
              </a:ext>
            </a:extLst>
          </p:cNvPr>
          <p:cNvSpPr/>
          <p:nvPr/>
        </p:nvSpPr>
        <p:spPr>
          <a:xfrm>
            <a:off x="3547872" y="1664208"/>
            <a:ext cx="502920" cy="502920"/>
          </a:xfrm>
          <a:prstGeom prst="ellipse">
            <a:avLst/>
          </a:prstGeom>
          <a:solidFill>
            <a:srgbClr val="F8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286560-386C-9260-FE2F-3CF87D25C5DA}"/>
              </a:ext>
            </a:extLst>
          </p:cNvPr>
          <p:cNvSpPr txBox="1"/>
          <p:nvPr/>
        </p:nvSpPr>
        <p:spPr>
          <a:xfrm>
            <a:off x="3547872" y="1764792"/>
            <a:ext cx="502920" cy="1828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A8F954-4F51-1960-2A8B-D0D04C7468C1}"/>
              </a:ext>
            </a:extLst>
          </p:cNvPr>
          <p:cNvSpPr txBox="1"/>
          <p:nvPr/>
        </p:nvSpPr>
        <p:spPr>
          <a:xfrm>
            <a:off x="4160520" y="162763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124B6F"/>
                </a:solidFill>
                <a:latin typeface="Times New Roman"/>
              </a:defRPr>
            </a:pPr>
            <a:r>
              <a:t>Кімнати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4E95E2-5229-407F-757B-9ED525E1BA91}"/>
              </a:ext>
            </a:extLst>
          </p:cNvPr>
          <p:cNvSpPr txBox="1"/>
          <p:nvPr/>
        </p:nvSpPr>
        <p:spPr>
          <a:xfrm>
            <a:off x="4187952" y="1984248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65656"/>
                </a:solidFill>
                <a:latin typeface="Times New Roman"/>
              </a:defRPr>
            </a:pPr>
            <a:r>
              <a:t>публічні й приватні кімнати, код або посилання</a:t>
            </a:r>
          </a:p>
        </p:txBody>
      </p:sp>
      <p:sp>
        <p:nvSpPr>
          <p:cNvPr id="19" name="Rounded Rectangle 543">
            <a:extLst>
              <a:ext uri="{FF2B5EF4-FFF2-40B4-BE49-F238E27FC236}">
                <a16:creationId xmlns:a16="http://schemas.microsoft.com/office/drawing/2014/main" id="{DF4067B6-D22A-5CE4-0665-ACA42E1012D8}"/>
              </a:ext>
            </a:extLst>
          </p:cNvPr>
          <p:cNvSpPr/>
          <p:nvPr/>
        </p:nvSpPr>
        <p:spPr>
          <a:xfrm>
            <a:off x="6117336" y="1527048"/>
            <a:ext cx="2331720" cy="1078992"/>
          </a:xfrm>
          <a:prstGeom prst="round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544">
            <a:extLst>
              <a:ext uri="{FF2B5EF4-FFF2-40B4-BE49-F238E27FC236}">
                <a16:creationId xmlns:a16="http://schemas.microsoft.com/office/drawing/2014/main" id="{76E18D55-7FB4-330B-3E09-E72A1CAC3940}"/>
              </a:ext>
            </a:extLst>
          </p:cNvPr>
          <p:cNvSpPr/>
          <p:nvPr/>
        </p:nvSpPr>
        <p:spPr>
          <a:xfrm>
            <a:off x="6089904" y="1481328"/>
            <a:ext cx="23317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545">
            <a:extLst>
              <a:ext uri="{FF2B5EF4-FFF2-40B4-BE49-F238E27FC236}">
                <a16:creationId xmlns:a16="http://schemas.microsoft.com/office/drawing/2014/main" id="{F9470B4D-3E09-2640-B831-FF806DA26BCA}"/>
              </a:ext>
            </a:extLst>
          </p:cNvPr>
          <p:cNvSpPr/>
          <p:nvPr/>
        </p:nvSpPr>
        <p:spPr>
          <a:xfrm>
            <a:off x="6236208" y="1664208"/>
            <a:ext cx="502920" cy="502920"/>
          </a:xfrm>
          <a:prstGeom prst="ellipse">
            <a:avLst/>
          </a:prstGeom>
          <a:solidFill>
            <a:srgbClr val="F8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762F41-A96A-01BB-AAA0-D9C2E03DD8E5}"/>
              </a:ext>
            </a:extLst>
          </p:cNvPr>
          <p:cNvSpPr txBox="1"/>
          <p:nvPr/>
        </p:nvSpPr>
        <p:spPr>
          <a:xfrm>
            <a:off x="6236208" y="1764792"/>
            <a:ext cx="502920" cy="1828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D4A11E-A705-ECD0-D17E-628F64547668}"/>
              </a:ext>
            </a:extLst>
          </p:cNvPr>
          <p:cNvSpPr txBox="1"/>
          <p:nvPr/>
        </p:nvSpPr>
        <p:spPr>
          <a:xfrm>
            <a:off x="6848856" y="162763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124B6F"/>
                </a:solidFill>
                <a:latin typeface="Times New Roman"/>
              </a:defRPr>
            </a:pPr>
            <a:r>
              <a:t>Синхронізація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554AC-AAB5-7CAB-6FB3-E34CAD816987}"/>
              </a:ext>
            </a:extLst>
          </p:cNvPr>
          <p:cNvSpPr txBox="1"/>
          <p:nvPr/>
        </p:nvSpPr>
        <p:spPr>
          <a:xfrm>
            <a:off x="6876288" y="1984248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65656"/>
                </a:solidFill>
                <a:latin typeface="Times New Roman"/>
              </a:defRPr>
            </a:pPr>
            <a:r>
              <a:t>спільні PLAY, PAUSE і SEEK для всіх</a:t>
            </a:r>
          </a:p>
        </p:txBody>
      </p:sp>
      <p:sp>
        <p:nvSpPr>
          <p:cNvPr id="25" name="Rounded Rectangle 549">
            <a:extLst>
              <a:ext uri="{FF2B5EF4-FFF2-40B4-BE49-F238E27FC236}">
                <a16:creationId xmlns:a16="http://schemas.microsoft.com/office/drawing/2014/main" id="{1CFE4459-64F7-AE47-99E2-34595673C923}"/>
              </a:ext>
            </a:extLst>
          </p:cNvPr>
          <p:cNvSpPr/>
          <p:nvPr/>
        </p:nvSpPr>
        <p:spPr>
          <a:xfrm>
            <a:off x="740664" y="2953512"/>
            <a:ext cx="2331720" cy="1078992"/>
          </a:xfrm>
          <a:prstGeom prst="round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550">
            <a:extLst>
              <a:ext uri="{FF2B5EF4-FFF2-40B4-BE49-F238E27FC236}">
                <a16:creationId xmlns:a16="http://schemas.microsoft.com/office/drawing/2014/main" id="{4BEEF6FA-9E51-3638-CEB5-15B986DBC012}"/>
              </a:ext>
            </a:extLst>
          </p:cNvPr>
          <p:cNvSpPr/>
          <p:nvPr/>
        </p:nvSpPr>
        <p:spPr>
          <a:xfrm>
            <a:off x="713232" y="2907792"/>
            <a:ext cx="23317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551">
            <a:extLst>
              <a:ext uri="{FF2B5EF4-FFF2-40B4-BE49-F238E27FC236}">
                <a16:creationId xmlns:a16="http://schemas.microsoft.com/office/drawing/2014/main" id="{64045FEE-8641-277F-DC76-F89AA5FD01D0}"/>
              </a:ext>
            </a:extLst>
          </p:cNvPr>
          <p:cNvSpPr/>
          <p:nvPr/>
        </p:nvSpPr>
        <p:spPr>
          <a:xfrm>
            <a:off x="859536" y="3090672"/>
            <a:ext cx="502920" cy="502920"/>
          </a:xfrm>
          <a:prstGeom prst="ellipse">
            <a:avLst/>
          </a:prstGeom>
          <a:solidFill>
            <a:srgbClr val="007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A6DBA0-E9EE-1154-F4E7-DD3A96277399}"/>
              </a:ext>
            </a:extLst>
          </p:cNvPr>
          <p:cNvSpPr txBox="1"/>
          <p:nvPr/>
        </p:nvSpPr>
        <p:spPr>
          <a:xfrm>
            <a:off x="859536" y="3191256"/>
            <a:ext cx="502920" cy="1828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28B7D9-2EDE-671A-160C-B377480EFC63}"/>
              </a:ext>
            </a:extLst>
          </p:cNvPr>
          <p:cNvSpPr txBox="1"/>
          <p:nvPr/>
        </p:nvSpPr>
        <p:spPr>
          <a:xfrm>
            <a:off x="1472184" y="3054096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124B6F"/>
                </a:solidFill>
                <a:latin typeface="Times New Roman"/>
              </a:defRPr>
            </a:pPr>
            <a:r>
              <a:t>Онлайн-чат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B24ECD-8BB8-07EE-9E6D-6235C166F6F9}"/>
              </a:ext>
            </a:extLst>
          </p:cNvPr>
          <p:cNvSpPr txBox="1"/>
          <p:nvPr/>
        </p:nvSpPr>
        <p:spPr>
          <a:xfrm>
            <a:off x="1499616" y="341071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65656"/>
                </a:solidFill>
                <a:latin typeface="Times New Roman"/>
              </a:defRPr>
            </a:pPr>
            <a:r>
              <a:t>повідомлення під час перегляду</a:t>
            </a:r>
          </a:p>
        </p:txBody>
      </p:sp>
      <p:sp>
        <p:nvSpPr>
          <p:cNvPr id="31" name="Rounded Rectangle 555">
            <a:extLst>
              <a:ext uri="{FF2B5EF4-FFF2-40B4-BE49-F238E27FC236}">
                <a16:creationId xmlns:a16="http://schemas.microsoft.com/office/drawing/2014/main" id="{AB1C568F-9A31-255D-D08A-8E442B807B70}"/>
              </a:ext>
            </a:extLst>
          </p:cNvPr>
          <p:cNvSpPr/>
          <p:nvPr/>
        </p:nvSpPr>
        <p:spPr>
          <a:xfrm>
            <a:off x="3429000" y="2953512"/>
            <a:ext cx="2331720" cy="1078992"/>
          </a:xfrm>
          <a:prstGeom prst="round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556">
            <a:extLst>
              <a:ext uri="{FF2B5EF4-FFF2-40B4-BE49-F238E27FC236}">
                <a16:creationId xmlns:a16="http://schemas.microsoft.com/office/drawing/2014/main" id="{D9AFA670-F2B9-44A1-2FAD-FF6D534E0D5E}"/>
              </a:ext>
            </a:extLst>
          </p:cNvPr>
          <p:cNvSpPr/>
          <p:nvPr/>
        </p:nvSpPr>
        <p:spPr>
          <a:xfrm>
            <a:off x="3401568" y="2907792"/>
            <a:ext cx="23317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557">
            <a:extLst>
              <a:ext uri="{FF2B5EF4-FFF2-40B4-BE49-F238E27FC236}">
                <a16:creationId xmlns:a16="http://schemas.microsoft.com/office/drawing/2014/main" id="{D5067011-791A-C6DE-2266-D1339EF41EE6}"/>
              </a:ext>
            </a:extLst>
          </p:cNvPr>
          <p:cNvSpPr/>
          <p:nvPr/>
        </p:nvSpPr>
        <p:spPr>
          <a:xfrm>
            <a:off x="3547872" y="3090672"/>
            <a:ext cx="502920" cy="502920"/>
          </a:xfrm>
          <a:prstGeom prst="ellipse">
            <a:avLst/>
          </a:prstGeom>
          <a:solidFill>
            <a:srgbClr val="007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B4A39A-F5AE-61CD-42F3-92DAE4549B5D}"/>
              </a:ext>
            </a:extLst>
          </p:cNvPr>
          <p:cNvSpPr txBox="1"/>
          <p:nvPr/>
        </p:nvSpPr>
        <p:spPr>
          <a:xfrm>
            <a:off x="3547872" y="3191256"/>
            <a:ext cx="502920" cy="1828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31F58B-BA5A-4221-36E1-543DDAE35C85}"/>
              </a:ext>
            </a:extLst>
          </p:cNvPr>
          <p:cNvSpPr txBox="1"/>
          <p:nvPr/>
        </p:nvSpPr>
        <p:spPr>
          <a:xfrm>
            <a:off x="4160520" y="3054096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124B6F"/>
                </a:solidFill>
                <a:latin typeface="Times New Roman"/>
              </a:defRPr>
            </a:pPr>
            <a:r>
              <a:t>Учасники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C4C7C1-8A1B-EE20-4945-A053A103D7A2}"/>
              </a:ext>
            </a:extLst>
          </p:cNvPr>
          <p:cNvSpPr txBox="1"/>
          <p:nvPr/>
        </p:nvSpPr>
        <p:spPr>
          <a:xfrm>
            <a:off x="4187952" y="341071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65656"/>
                </a:solidFill>
                <a:latin typeface="Times New Roman"/>
              </a:defRPr>
            </a:pPr>
            <a:r>
              <a:t>запрошення, сповіщення й модерація</a:t>
            </a:r>
          </a:p>
        </p:txBody>
      </p:sp>
      <p:sp>
        <p:nvSpPr>
          <p:cNvPr id="37" name="Rounded Rectangle 561">
            <a:extLst>
              <a:ext uri="{FF2B5EF4-FFF2-40B4-BE49-F238E27FC236}">
                <a16:creationId xmlns:a16="http://schemas.microsoft.com/office/drawing/2014/main" id="{AEC3FB30-AD54-B73D-129E-DF64EF9E9440}"/>
              </a:ext>
            </a:extLst>
          </p:cNvPr>
          <p:cNvSpPr/>
          <p:nvPr/>
        </p:nvSpPr>
        <p:spPr>
          <a:xfrm>
            <a:off x="6117336" y="2953512"/>
            <a:ext cx="2331720" cy="1078992"/>
          </a:xfrm>
          <a:prstGeom prst="round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562">
            <a:extLst>
              <a:ext uri="{FF2B5EF4-FFF2-40B4-BE49-F238E27FC236}">
                <a16:creationId xmlns:a16="http://schemas.microsoft.com/office/drawing/2014/main" id="{8A111A92-83B4-593E-1305-2B40AB9BD7CE}"/>
              </a:ext>
            </a:extLst>
          </p:cNvPr>
          <p:cNvSpPr/>
          <p:nvPr/>
        </p:nvSpPr>
        <p:spPr>
          <a:xfrm>
            <a:off x="6089904" y="2907792"/>
            <a:ext cx="23317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563">
            <a:extLst>
              <a:ext uri="{FF2B5EF4-FFF2-40B4-BE49-F238E27FC236}">
                <a16:creationId xmlns:a16="http://schemas.microsoft.com/office/drawing/2014/main" id="{2AB5F0BE-9DB3-3E7D-5821-A93F2C287476}"/>
              </a:ext>
            </a:extLst>
          </p:cNvPr>
          <p:cNvSpPr/>
          <p:nvPr/>
        </p:nvSpPr>
        <p:spPr>
          <a:xfrm>
            <a:off x="6236208" y="3090672"/>
            <a:ext cx="502920" cy="502920"/>
          </a:xfrm>
          <a:prstGeom prst="ellipse">
            <a:avLst/>
          </a:prstGeom>
          <a:solidFill>
            <a:srgbClr val="007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42B24F-6762-8B9D-7371-D499184E3F41}"/>
              </a:ext>
            </a:extLst>
          </p:cNvPr>
          <p:cNvSpPr txBox="1"/>
          <p:nvPr/>
        </p:nvSpPr>
        <p:spPr>
          <a:xfrm>
            <a:off x="6236208" y="3191256"/>
            <a:ext cx="502920" cy="1828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95601C-94E4-37F1-EC61-693B54AFD2AE}"/>
              </a:ext>
            </a:extLst>
          </p:cNvPr>
          <p:cNvSpPr txBox="1"/>
          <p:nvPr/>
        </p:nvSpPr>
        <p:spPr>
          <a:xfrm>
            <a:off x="6848856" y="3054096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124B6F"/>
                </a:solidFill>
                <a:latin typeface="Times New Roman"/>
              </a:defRPr>
            </a:pPr>
            <a:r>
              <a:t>Дані та UI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50DCC5-E118-0496-8733-C869C01A15D3}"/>
              </a:ext>
            </a:extLst>
          </p:cNvPr>
          <p:cNvSpPr txBox="1"/>
          <p:nvPr/>
        </p:nvSpPr>
        <p:spPr>
          <a:xfrm>
            <a:off x="6876288" y="341071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65656"/>
                </a:solidFill>
                <a:latin typeface="Times New Roman"/>
              </a:defRPr>
            </a:pPr>
            <a:r>
              <a:t>MySQL і адаптивний React-інтерфейс</a:t>
            </a:r>
          </a:p>
        </p:txBody>
      </p:sp>
      <p:sp>
        <p:nvSpPr>
          <p:cNvPr id="43" name="Rounded Rectangle 567">
            <a:extLst>
              <a:ext uri="{FF2B5EF4-FFF2-40B4-BE49-F238E27FC236}">
                <a16:creationId xmlns:a16="http://schemas.microsoft.com/office/drawing/2014/main" id="{2392CF52-EF6A-6DF0-A211-16128F24627F}"/>
              </a:ext>
            </a:extLst>
          </p:cNvPr>
          <p:cNvSpPr/>
          <p:nvPr/>
        </p:nvSpPr>
        <p:spPr>
          <a:xfrm>
            <a:off x="1170432" y="4242816"/>
            <a:ext cx="6446520" cy="3291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88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>
              <a:defRPr sz="1250">
                <a:solidFill>
                  <a:srgbClr val="124B6F"/>
                </a:solidFill>
                <a:latin typeface="Times New Roman"/>
              </a:defRPr>
            </a:pPr>
            <a:r>
              <a:t>Результат: повний цикл спільного онлайн-перегляду — від входу до синхронного сеансу.</a:t>
            </a:r>
          </a:p>
        </p:txBody>
      </p:sp>
    </p:spTree>
    <p:extLst>
      <p:ext uri="{BB962C8B-B14F-4D97-AF65-F5344CB8AC3E}">
        <p14:creationId xmlns:p14="http://schemas.microsoft.com/office/powerpoint/2010/main" val="316579540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80C3BF-E83C-6E29-0D02-2E48DF511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94" y="0"/>
            <a:ext cx="4507681" cy="5064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37024"/>
            <a:ext cx="85953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8C1754A-194C-2797-9EFB-9CBC769FD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299" y="1329680"/>
            <a:ext cx="3932608" cy="226401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іаграма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прецедентів, яка демонструє взаємодію користувачів із системою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56638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TextBox 1046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1112" name="Picture 1049" descr="image.png">
            <a:extLst>
              <a:ext uri="{FF2B5EF4-FFF2-40B4-BE49-F238E27FC236}">
                <a16:creationId xmlns:a16="http://schemas.microsoft.com/office/drawing/2014/main" id="{2113D59E-BCF5-9A9A-A547-04F32EC09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41" y="481488"/>
            <a:ext cx="650000" cy="438000"/>
          </a:xfrm>
          <a:prstGeom prst="rect">
            <a:avLst/>
          </a:prstGeom>
        </p:spPr>
      </p:pic>
      <p:sp>
        <p:nvSpPr>
          <p:cNvPr id="1113" name="Заголовок 14">
            <a:extLst>
              <a:ext uri="{FF2B5EF4-FFF2-40B4-BE49-F238E27FC236}">
                <a16:creationId xmlns:a16="http://schemas.microsoft.com/office/drawing/2014/main" id="{A6E46EFE-B2DF-1877-83D5-26460BA64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</p:spPr>
        <p:txBody>
          <a:bodyPr/>
          <a:lstStyle/>
          <a:p>
            <a:pPr algn="l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Використані технології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14" name="Google Shape;188;p7">
            <a:extLst>
              <a:ext uri="{FF2B5EF4-FFF2-40B4-BE49-F238E27FC236}">
                <a16:creationId xmlns:a16="http://schemas.microsoft.com/office/drawing/2014/main" id="{FDE494D3-561B-9D7D-4B81-42AF3E7BE2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753" t="15814" r="15753" b="22816"/>
          <a:stretch/>
        </p:blipFill>
        <p:spPr>
          <a:xfrm>
            <a:off x="594344" y="1575768"/>
            <a:ext cx="1420351" cy="1151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Picture 5">
            <a:extLst>
              <a:ext uri="{FF2B5EF4-FFF2-40B4-BE49-F238E27FC236}">
                <a16:creationId xmlns:a16="http://schemas.microsoft.com/office/drawing/2014/main" id="{8A92CBF7-CBB4-8DA1-E44E-0A6E5521D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940" y="1953447"/>
            <a:ext cx="1710523" cy="774262"/>
          </a:xfrm>
          <a:prstGeom prst="rect">
            <a:avLst/>
          </a:prstGeom>
        </p:spPr>
      </p:pic>
      <p:sp>
        <p:nvSpPr>
          <p:cNvPr id="1124" name="Google Shape;174;p21">
            <a:extLst>
              <a:ext uri="{FF2B5EF4-FFF2-40B4-BE49-F238E27FC236}">
                <a16:creationId xmlns:a16="http://schemas.microsoft.com/office/drawing/2014/main" id="{A9CF84CC-31B0-EA8B-EB76-8850C31F1883}"/>
              </a:ext>
            </a:extLst>
          </p:cNvPr>
          <p:cNvSpPr txBox="1"/>
          <p:nvPr/>
        </p:nvSpPr>
        <p:spPr>
          <a:xfrm>
            <a:off x="5708597" y="2977509"/>
            <a:ext cx="3062684" cy="43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b="1" dirty="0">
                <a:solidFill>
                  <a:schemeClr val="dk1"/>
                </a:solidFill>
                <a:latin typeface="Times New Roman" panose="02020603050405020304" pitchFamily="18" charset="0"/>
                <a:ea typeface="Montserrat SemiBold"/>
                <a:cs typeface="Times New Roman" panose="02020603050405020304" pitchFamily="18" charset="0"/>
                <a:sym typeface="Montserrat SemiBold"/>
              </a:rPr>
              <a:t>Сервіс машинних моделей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ea typeface="Montserrat SemiBold"/>
              <a:cs typeface="Times New Roman" panose="02020603050405020304" pitchFamily="18" charset="0"/>
              <a:sym typeface="Montserrat SemiBold"/>
            </a:endParaRPr>
          </a:p>
        </p:txBody>
      </p:sp>
      <p:sp>
        <p:nvSpPr>
          <p:cNvPr id="1129" name="Rectangle 4">
            <a:extLst>
              <a:ext uri="{FF2B5EF4-FFF2-40B4-BE49-F238E27FC236}">
                <a16:creationId xmlns:a16="http://schemas.microsoft.com/office/drawing/2014/main" id="{44760F9D-0745-554B-C3B5-14856AC1FCDE}"/>
              </a:ext>
            </a:extLst>
          </p:cNvPr>
          <p:cNvSpPr/>
          <p:nvPr/>
        </p:nvSpPr>
        <p:spPr>
          <a:xfrm>
            <a:off x="502920" y="1088136"/>
            <a:ext cx="1874519" cy="152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3BD69A42-4BF9-776C-C469-15406AEBED6D}"/>
              </a:ext>
            </a:extLst>
          </p:cNvPr>
          <p:cNvSpPr txBox="1"/>
          <p:nvPr/>
        </p:nvSpPr>
        <p:spPr>
          <a:xfrm>
            <a:off x="1097280" y="1261872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21212"/>
                </a:solidFill>
                <a:latin typeface="Times New Roman"/>
              </a:rPr>
              <a:t>Сервер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BBCB5366-A1B1-A730-02C3-816B480E7BA2}"/>
              </a:ext>
            </a:extLst>
          </p:cNvPr>
          <p:cNvSpPr txBox="1"/>
          <p:nvPr/>
        </p:nvSpPr>
        <p:spPr>
          <a:xfrm>
            <a:off x="5586984" y="1275105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 err="1">
                <a:solidFill>
                  <a:srgbClr val="121212"/>
                </a:solidFill>
                <a:latin typeface="Times New Roman"/>
              </a:rPr>
              <a:t>Клієнт</a:t>
            </a:r>
            <a:endParaRPr sz="2000" b="1" dirty="0">
              <a:solidFill>
                <a:srgbClr val="121212"/>
              </a:solidFill>
              <a:latin typeface="Times New Roman"/>
            </a:endParaRPr>
          </a:p>
        </p:txBody>
      </p:sp>
      <p:sp>
        <p:nvSpPr>
          <p:cNvPr id="1132" name="Rounded Rectangle 8">
            <a:extLst>
              <a:ext uri="{FF2B5EF4-FFF2-40B4-BE49-F238E27FC236}">
                <a16:creationId xmlns:a16="http://schemas.microsoft.com/office/drawing/2014/main" id="{7A5F9253-6350-165F-E0D4-A451B23246A8}"/>
              </a:ext>
            </a:extLst>
          </p:cNvPr>
          <p:cNvSpPr/>
          <p:nvPr/>
        </p:nvSpPr>
        <p:spPr>
          <a:xfrm>
            <a:off x="502920" y="1676400"/>
            <a:ext cx="4160520" cy="1755648"/>
          </a:xfrm>
          <a:prstGeom prst="roundRect">
            <a:avLst/>
          </a:prstGeom>
          <a:solidFill>
            <a:srgbClr val="F6F6F6"/>
          </a:solidFill>
          <a:ln w="889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Rounded Rectangle 9">
            <a:extLst>
              <a:ext uri="{FF2B5EF4-FFF2-40B4-BE49-F238E27FC236}">
                <a16:creationId xmlns:a16="http://schemas.microsoft.com/office/drawing/2014/main" id="{2FD8CDA3-CBDF-E46D-72CA-90CFEB1503F2}"/>
              </a:ext>
            </a:extLst>
          </p:cNvPr>
          <p:cNvSpPr/>
          <p:nvPr/>
        </p:nvSpPr>
        <p:spPr>
          <a:xfrm>
            <a:off x="4937760" y="1661922"/>
            <a:ext cx="4160520" cy="1755648"/>
          </a:xfrm>
          <a:prstGeom prst="roundRect">
            <a:avLst/>
          </a:prstGeom>
          <a:solidFill>
            <a:srgbClr val="F6F6F6"/>
          </a:solidFill>
          <a:ln w="889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Rounded Rectangle 10">
            <a:extLst>
              <a:ext uri="{FF2B5EF4-FFF2-40B4-BE49-F238E27FC236}">
                <a16:creationId xmlns:a16="http://schemas.microsoft.com/office/drawing/2014/main" id="{6CAE197C-0AF0-AF07-1874-855D1C00BEEA}"/>
              </a:ext>
            </a:extLst>
          </p:cNvPr>
          <p:cNvSpPr/>
          <p:nvPr/>
        </p:nvSpPr>
        <p:spPr>
          <a:xfrm>
            <a:off x="713232" y="1801368"/>
            <a:ext cx="178308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Oval 11">
            <a:extLst>
              <a:ext uri="{FF2B5EF4-FFF2-40B4-BE49-F238E27FC236}">
                <a16:creationId xmlns:a16="http://schemas.microsoft.com/office/drawing/2014/main" id="{40F2CA5E-FC77-A012-AF57-3ABA96AFC644}"/>
              </a:ext>
            </a:extLst>
          </p:cNvPr>
          <p:cNvSpPr/>
          <p:nvPr/>
        </p:nvSpPr>
        <p:spPr>
          <a:xfrm>
            <a:off x="786384" y="1892807"/>
            <a:ext cx="347472" cy="347472"/>
          </a:xfrm>
          <a:prstGeom prst="ellipse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810484E0-017F-5A69-596D-1331857C421A}"/>
              </a:ext>
            </a:extLst>
          </p:cNvPr>
          <p:cNvSpPr txBox="1"/>
          <p:nvPr/>
        </p:nvSpPr>
        <p:spPr>
          <a:xfrm>
            <a:off x="786384" y="1943100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J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9DE2B5DE-C7D5-D1B4-F7BC-E6CEADC16ECC}"/>
              </a:ext>
            </a:extLst>
          </p:cNvPr>
          <p:cNvSpPr txBox="1"/>
          <p:nvPr/>
        </p:nvSpPr>
        <p:spPr>
          <a:xfrm>
            <a:off x="1216152" y="1874519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Java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1512B5CB-FB28-8E44-0A07-BCE106E6D222}"/>
              </a:ext>
            </a:extLst>
          </p:cNvPr>
          <p:cNvSpPr txBox="1"/>
          <p:nvPr/>
        </p:nvSpPr>
        <p:spPr>
          <a:xfrm>
            <a:off x="1216152" y="2112264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серверна мова</a:t>
            </a:r>
          </a:p>
        </p:txBody>
      </p:sp>
      <p:sp>
        <p:nvSpPr>
          <p:cNvPr id="1139" name="Rounded Rectangle 15">
            <a:extLst>
              <a:ext uri="{FF2B5EF4-FFF2-40B4-BE49-F238E27FC236}">
                <a16:creationId xmlns:a16="http://schemas.microsoft.com/office/drawing/2014/main" id="{159F2C9F-2859-BB8E-2520-0FCEF10D76DE}"/>
              </a:ext>
            </a:extLst>
          </p:cNvPr>
          <p:cNvSpPr/>
          <p:nvPr/>
        </p:nvSpPr>
        <p:spPr>
          <a:xfrm>
            <a:off x="2705730" y="1860803"/>
            <a:ext cx="178308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Oval 16">
            <a:extLst>
              <a:ext uri="{FF2B5EF4-FFF2-40B4-BE49-F238E27FC236}">
                <a16:creationId xmlns:a16="http://schemas.microsoft.com/office/drawing/2014/main" id="{D20ED534-15B6-89A6-217B-EDBF6D5493F2}"/>
              </a:ext>
            </a:extLst>
          </p:cNvPr>
          <p:cNvSpPr/>
          <p:nvPr/>
        </p:nvSpPr>
        <p:spPr>
          <a:xfrm>
            <a:off x="2770632" y="1892807"/>
            <a:ext cx="347472" cy="347472"/>
          </a:xfrm>
          <a:prstGeom prst="ellips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780F088-73BD-B751-9FC5-BD28C151E04A}"/>
              </a:ext>
            </a:extLst>
          </p:cNvPr>
          <p:cNvSpPr txBox="1"/>
          <p:nvPr/>
        </p:nvSpPr>
        <p:spPr>
          <a:xfrm>
            <a:off x="2770632" y="1943100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76E66B90-4034-D838-47DA-745038D3EF33}"/>
              </a:ext>
            </a:extLst>
          </p:cNvPr>
          <p:cNvSpPr txBox="1"/>
          <p:nvPr/>
        </p:nvSpPr>
        <p:spPr>
          <a:xfrm>
            <a:off x="3200400" y="1874519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Spring Boot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5B3B3D79-3A55-FC23-1395-179DF3DAFABA}"/>
              </a:ext>
            </a:extLst>
          </p:cNvPr>
          <p:cNvSpPr txBox="1"/>
          <p:nvPr/>
        </p:nvSpPr>
        <p:spPr>
          <a:xfrm>
            <a:off x="3200400" y="2112264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back-end фреймворк</a:t>
            </a:r>
          </a:p>
        </p:txBody>
      </p:sp>
      <p:sp>
        <p:nvSpPr>
          <p:cNvPr id="1144" name="Rounded Rectangle 20">
            <a:extLst>
              <a:ext uri="{FF2B5EF4-FFF2-40B4-BE49-F238E27FC236}">
                <a16:creationId xmlns:a16="http://schemas.microsoft.com/office/drawing/2014/main" id="{10118CA1-F853-F73E-359D-ACC6AE301492}"/>
              </a:ext>
            </a:extLst>
          </p:cNvPr>
          <p:cNvSpPr/>
          <p:nvPr/>
        </p:nvSpPr>
        <p:spPr>
          <a:xfrm>
            <a:off x="713232" y="2542032"/>
            <a:ext cx="178308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Oval 21">
            <a:extLst>
              <a:ext uri="{FF2B5EF4-FFF2-40B4-BE49-F238E27FC236}">
                <a16:creationId xmlns:a16="http://schemas.microsoft.com/office/drawing/2014/main" id="{A07AFBB6-F8DE-201C-A569-9EA1681DC7A2}"/>
              </a:ext>
            </a:extLst>
          </p:cNvPr>
          <p:cNvSpPr/>
          <p:nvPr/>
        </p:nvSpPr>
        <p:spPr>
          <a:xfrm>
            <a:off x="786384" y="2633472"/>
            <a:ext cx="347472" cy="347472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A080AF0A-EF23-58D7-CED2-6CFA045D81A0}"/>
              </a:ext>
            </a:extLst>
          </p:cNvPr>
          <p:cNvSpPr txBox="1"/>
          <p:nvPr/>
        </p:nvSpPr>
        <p:spPr>
          <a:xfrm>
            <a:off x="786384" y="2683763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J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943FF9C9-342E-B9C8-0296-6CED2B1E3DC3}"/>
              </a:ext>
            </a:extLst>
          </p:cNvPr>
          <p:cNvSpPr txBox="1"/>
          <p:nvPr/>
        </p:nvSpPr>
        <p:spPr>
          <a:xfrm>
            <a:off x="1216152" y="2615184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Security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1082ED4E-05B0-7003-2F28-98120208DB3F}"/>
              </a:ext>
            </a:extLst>
          </p:cNvPr>
          <p:cNvSpPr txBox="1"/>
          <p:nvPr/>
        </p:nvSpPr>
        <p:spPr>
          <a:xfrm>
            <a:off x="1216152" y="2852927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JWT-авторизація</a:t>
            </a:r>
          </a:p>
        </p:txBody>
      </p:sp>
      <p:sp>
        <p:nvSpPr>
          <p:cNvPr id="1149" name="Rounded Rectangle 25">
            <a:extLst>
              <a:ext uri="{FF2B5EF4-FFF2-40B4-BE49-F238E27FC236}">
                <a16:creationId xmlns:a16="http://schemas.microsoft.com/office/drawing/2014/main" id="{BB9945D1-A849-65E6-E51A-8B9244A0D596}"/>
              </a:ext>
            </a:extLst>
          </p:cNvPr>
          <p:cNvSpPr/>
          <p:nvPr/>
        </p:nvSpPr>
        <p:spPr>
          <a:xfrm>
            <a:off x="2697480" y="2542032"/>
            <a:ext cx="178308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Oval 26">
            <a:extLst>
              <a:ext uri="{FF2B5EF4-FFF2-40B4-BE49-F238E27FC236}">
                <a16:creationId xmlns:a16="http://schemas.microsoft.com/office/drawing/2014/main" id="{84CB8E7A-A67C-15A2-9FFE-4A8B5A3A7FB7}"/>
              </a:ext>
            </a:extLst>
          </p:cNvPr>
          <p:cNvSpPr/>
          <p:nvPr/>
        </p:nvSpPr>
        <p:spPr>
          <a:xfrm>
            <a:off x="2770632" y="2633472"/>
            <a:ext cx="347472" cy="347472"/>
          </a:xfrm>
          <a:prstGeom prst="ellipse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39C7E947-340C-711C-D655-8998946A16FA}"/>
              </a:ext>
            </a:extLst>
          </p:cNvPr>
          <p:cNvSpPr txBox="1"/>
          <p:nvPr/>
        </p:nvSpPr>
        <p:spPr>
          <a:xfrm>
            <a:off x="2770632" y="2683763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ADB2C1D5-0592-DFA1-65ED-43E00EAE7192}"/>
              </a:ext>
            </a:extLst>
          </p:cNvPr>
          <p:cNvSpPr txBox="1"/>
          <p:nvPr/>
        </p:nvSpPr>
        <p:spPr>
          <a:xfrm>
            <a:off x="3200400" y="2615184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REST API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E8B46E7B-41F9-9F08-2102-FD6F87FB13E5}"/>
              </a:ext>
            </a:extLst>
          </p:cNvPr>
          <p:cNvSpPr txBox="1"/>
          <p:nvPr/>
        </p:nvSpPr>
        <p:spPr>
          <a:xfrm>
            <a:off x="3200400" y="2852927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HTTP/JSON</a:t>
            </a:r>
          </a:p>
        </p:txBody>
      </p:sp>
      <p:sp>
        <p:nvSpPr>
          <p:cNvPr id="1154" name="Rounded Rectangle 30">
            <a:extLst>
              <a:ext uri="{FF2B5EF4-FFF2-40B4-BE49-F238E27FC236}">
                <a16:creationId xmlns:a16="http://schemas.microsoft.com/office/drawing/2014/main" id="{00176215-1E2A-5ECD-F0D9-C1C674C176C7}"/>
              </a:ext>
            </a:extLst>
          </p:cNvPr>
          <p:cNvSpPr/>
          <p:nvPr/>
        </p:nvSpPr>
        <p:spPr>
          <a:xfrm>
            <a:off x="5184647" y="1863090"/>
            <a:ext cx="178308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Oval 31">
            <a:extLst>
              <a:ext uri="{FF2B5EF4-FFF2-40B4-BE49-F238E27FC236}">
                <a16:creationId xmlns:a16="http://schemas.microsoft.com/office/drawing/2014/main" id="{BC3A2EA2-BA49-1BD0-B448-9C569B6B5928}"/>
              </a:ext>
            </a:extLst>
          </p:cNvPr>
          <p:cNvSpPr/>
          <p:nvPr/>
        </p:nvSpPr>
        <p:spPr>
          <a:xfrm>
            <a:off x="5257799" y="1954529"/>
            <a:ext cx="347472" cy="347472"/>
          </a:xfrm>
          <a:prstGeom prst="ellipse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4DFA0823-74CE-D5ED-0E43-27E836D1A99E}"/>
              </a:ext>
            </a:extLst>
          </p:cNvPr>
          <p:cNvSpPr txBox="1"/>
          <p:nvPr/>
        </p:nvSpPr>
        <p:spPr>
          <a:xfrm>
            <a:off x="5257799" y="2004822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D5B8BDC4-09A7-AFA2-147E-562D05B8D10D}"/>
              </a:ext>
            </a:extLst>
          </p:cNvPr>
          <p:cNvSpPr txBox="1"/>
          <p:nvPr/>
        </p:nvSpPr>
        <p:spPr>
          <a:xfrm>
            <a:off x="5614415" y="1927098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dirty="0">
                <a:solidFill>
                  <a:srgbClr val="2D2D2D"/>
                </a:solidFill>
                <a:latin typeface="Arial"/>
              </a:rPr>
              <a:t>React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22DF5E4C-A2B4-6245-C623-9BE04CA07D25}"/>
              </a:ext>
            </a:extLst>
          </p:cNvPr>
          <p:cNvSpPr txBox="1"/>
          <p:nvPr/>
        </p:nvSpPr>
        <p:spPr>
          <a:xfrm>
            <a:off x="5687567" y="2173986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інтерфейс</a:t>
            </a:r>
          </a:p>
        </p:txBody>
      </p:sp>
      <p:sp>
        <p:nvSpPr>
          <p:cNvPr id="1159" name="Rounded Rectangle 35">
            <a:extLst>
              <a:ext uri="{FF2B5EF4-FFF2-40B4-BE49-F238E27FC236}">
                <a16:creationId xmlns:a16="http://schemas.microsoft.com/office/drawing/2014/main" id="{37B03C1A-C1C9-5AF0-E278-94BEF80F9AFD}"/>
              </a:ext>
            </a:extLst>
          </p:cNvPr>
          <p:cNvSpPr/>
          <p:nvPr/>
        </p:nvSpPr>
        <p:spPr>
          <a:xfrm>
            <a:off x="7200900" y="1846606"/>
            <a:ext cx="178308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Oval 36">
            <a:extLst>
              <a:ext uri="{FF2B5EF4-FFF2-40B4-BE49-F238E27FC236}">
                <a16:creationId xmlns:a16="http://schemas.microsoft.com/office/drawing/2014/main" id="{01B6CD8E-0476-1AA7-BFA0-B2E333AFBA0F}"/>
              </a:ext>
            </a:extLst>
          </p:cNvPr>
          <p:cNvSpPr/>
          <p:nvPr/>
        </p:nvSpPr>
        <p:spPr>
          <a:xfrm>
            <a:off x="7274052" y="1938045"/>
            <a:ext cx="347472" cy="347472"/>
          </a:xfrm>
          <a:prstGeom prst="ellips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579AD088-B3D2-8D40-8BBD-AF9D649639B3}"/>
              </a:ext>
            </a:extLst>
          </p:cNvPr>
          <p:cNvSpPr txBox="1"/>
          <p:nvPr/>
        </p:nvSpPr>
        <p:spPr>
          <a:xfrm>
            <a:off x="7274052" y="1988338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D01A38FE-31FF-035B-D531-73F39A4509E2}"/>
              </a:ext>
            </a:extLst>
          </p:cNvPr>
          <p:cNvSpPr txBox="1"/>
          <p:nvPr/>
        </p:nvSpPr>
        <p:spPr>
          <a:xfrm>
            <a:off x="7703821" y="191975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Tailwind CSS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C90A36C9-CF5A-E989-0BFF-E6E1356E7846}"/>
              </a:ext>
            </a:extLst>
          </p:cNvPr>
          <p:cNvSpPr txBox="1"/>
          <p:nvPr/>
        </p:nvSpPr>
        <p:spPr>
          <a:xfrm>
            <a:off x="7703821" y="2157502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 dirty="0" err="1">
                <a:solidFill>
                  <a:srgbClr val="646464"/>
                </a:solidFill>
                <a:latin typeface="Arial"/>
              </a:rPr>
              <a:t>стилізація</a:t>
            </a:r>
            <a:endParaRPr sz="770" dirty="0">
              <a:solidFill>
                <a:srgbClr val="646464"/>
              </a:solidFill>
              <a:latin typeface="Arial"/>
            </a:endParaRPr>
          </a:p>
        </p:txBody>
      </p:sp>
      <p:sp>
        <p:nvSpPr>
          <p:cNvPr id="1164" name="Rounded Rectangle 40">
            <a:extLst>
              <a:ext uri="{FF2B5EF4-FFF2-40B4-BE49-F238E27FC236}">
                <a16:creationId xmlns:a16="http://schemas.microsoft.com/office/drawing/2014/main" id="{CEE090C6-B988-3E3F-EE4F-6550E3665729}"/>
              </a:ext>
            </a:extLst>
          </p:cNvPr>
          <p:cNvSpPr/>
          <p:nvPr/>
        </p:nvSpPr>
        <p:spPr>
          <a:xfrm>
            <a:off x="5184647" y="2527834"/>
            <a:ext cx="178308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Oval 41">
            <a:extLst>
              <a:ext uri="{FF2B5EF4-FFF2-40B4-BE49-F238E27FC236}">
                <a16:creationId xmlns:a16="http://schemas.microsoft.com/office/drawing/2014/main" id="{73FECC63-2213-7184-A98C-AF12988B0434}"/>
              </a:ext>
            </a:extLst>
          </p:cNvPr>
          <p:cNvSpPr/>
          <p:nvPr/>
        </p:nvSpPr>
        <p:spPr>
          <a:xfrm>
            <a:off x="5257799" y="2619274"/>
            <a:ext cx="347472" cy="347472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4E44ED68-BAB0-66F3-9F30-3D44765E6EAF}"/>
              </a:ext>
            </a:extLst>
          </p:cNvPr>
          <p:cNvSpPr txBox="1"/>
          <p:nvPr/>
        </p:nvSpPr>
        <p:spPr>
          <a:xfrm>
            <a:off x="5257799" y="2669565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A0784EBF-B899-5AA1-8FC5-BE2DDF364247}"/>
              </a:ext>
            </a:extLst>
          </p:cNvPr>
          <p:cNvSpPr txBox="1"/>
          <p:nvPr/>
        </p:nvSpPr>
        <p:spPr>
          <a:xfrm>
            <a:off x="5687567" y="2600986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Axios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638F6BD8-BC3F-DD38-6FD6-162FD9A5566A}"/>
              </a:ext>
            </a:extLst>
          </p:cNvPr>
          <p:cNvSpPr txBox="1"/>
          <p:nvPr/>
        </p:nvSpPr>
        <p:spPr>
          <a:xfrm>
            <a:off x="5687567" y="2838729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HTTP-запити</a:t>
            </a:r>
          </a:p>
        </p:txBody>
      </p:sp>
      <p:sp>
        <p:nvSpPr>
          <p:cNvPr id="1169" name="Rounded Rectangle 45">
            <a:extLst>
              <a:ext uri="{FF2B5EF4-FFF2-40B4-BE49-F238E27FC236}">
                <a16:creationId xmlns:a16="http://schemas.microsoft.com/office/drawing/2014/main" id="{2EAC6D6F-9831-7ED4-9545-7A3E54DA7E42}"/>
              </a:ext>
            </a:extLst>
          </p:cNvPr>
          <p:cNvSpPr/>
          <p:nvPr/>
        </p:nvSpPr>
        <p:spPr>
          <a:xfrm>
            <a:off x="7214614" y="2536979"/>
            <a:ext cx="178308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Oval 46">
            <a:extLst>
              <a:ext uri="{FF2B5EF4-FFF2-40B4-BE49-F238E27FC236}">
                <a16:creationId xmlns:a16="http://schemas.microsoft.com/office/drawing/2014/main" id="{A0133348-1D29-4A89-4C31-2F876F065687}"/>
              </a:ext>
            </a:extLst>
          </p:cNvPr>
          <p:cNvSpPr/>
          <p:nvPr/>
        </p:nvSpPr>
        <p:spPr>
          <a:xfrm>
            <a:off x="7287766" y="2628419"/>
            <a:ext cx="347472" cy="347472"/>
          </a:xfrm>
          <a:prstGeom prst="ellipse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19A74B18-7291-D5A1-6A03-ACDD5CC34206}"/>
              </a:ext>
            </a:extLst>
          </p:cNvPr>
          <p:cNvSpPr txBox="1"/>
          <p:nvPr/>
        </p:nvSpPr>
        <p:spPr>
          <a:xfrm>
            <a:off x="7287766" y="2678710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AC13880F-7A19-4636-82C4-CBAECF3A5CFE}"/>
              </a:ext>
            </a:extLst>
          </p:cNvPr>
          <p:cNvSpPr txBox="1"/>
          <p:nvPr/>
        </p:nvSpPr>
        <p:spPr>
          <a:xfrm>
            <a:off x="7717535" y="2610131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Vite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2C9DBAEC-3771-0F73-A443-4562741B0356}"/>
              </a:ext>
            </a:extLst>
          </p:cNvPr>
          <p:cNvSpPr txBox="1"/>
          <p:nvPr/>
        </p:nvSpPr>
        <p:spPr>
          <a:xfrm>
            <a:off x="7717535" y="2847874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збірка клієнта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3E86A291-38A7-BE2D-A1EE-5DA9883347F4}"/>
              </a:ext>
            </a:extLst>
          </p:cNvPr>
          <p:cNvSpPr txBox="1"/>
          <p:nvPr/>
        </p:nvSpPr>
        <p:spPr>
          <a:xfrm>
            <a:off x="2240280" y="3547872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 err="1">
                <a:solidFill>
                  <a:srgbClr val="121212"/>
                </a:solidFill>
                <a:latin typeface="Times New Roman"/>
              </a:rPr>
              <a:t>База</a:t>
            </a:r>
            <a:r>
              <a:rPr sz="2000" b="1" dirty="0">
                <a:solidFill>
                  <a:srgbClr val="121212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121212"/>
                </a:solidFill>
                <a:latin typeface="Times New Roman"/>
              </a:rPr>
              <a:t>даних</a:t>
            </a:r>
            <a:r>
              <a:rPr sz="2000" b="1" dirty="0">
                <a:solidFill>
                  <a:srgbClr val="121212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121212"/>
                </a:solidFill>
                <a:latin typeface="Times New Roman"/>
              </a:rPr>
              <a:t>та</a:t>
            </a:r>
            <a:r>
              <a:rPr sz="2000" b="1" dirty="0">
                <a:solidFill>
                  <a:srgbClr val="121212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121212"/>
                </a:solidFill>
                <a:latin typeface="Times New Roman"/>
              </a:rPr>
              <a:t>взаємодія</a:t>
            </a:r>
            <a:r>
              <a:rPr sz="2000" b="1" dirty="0">
                <a:solidFill>
                  <a:srgbClr val="121212"/>
                </a:solidFill>
                <a:latin typeface="Times New Roman"/>
              </a:rPr>
              <a:t> у </a:t>
            </a:r>
            <a:r>
              <a:rPr sz="2000" b="1" dirty="0" err="1">
                <a:solidFill>
                  <a:srgbClr val="121212"/>
                </a:solidFill>
                <a:latin typeface="Times New Roman"/>
              </a:rPr>
              <a:t>реальному</a:t>
            </a:r>
            <a:r>
              <a:rPr sz="2000" b="1" dirty="0">
                <a:solidFill>
                  <a:srgbClr val="121212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121212"/>
                </a:solidFill>
                <a:latin typeface="Times New Roman"/>
              </a:rPr>
              <a:t>часі</a:t>
            </a:r>
            <a:endParaRPr sz="2000" b="1" dirty="0">
              <a:solidFill>
                <a:srgbClr val="121212"/>
              </a:solidFill>
              <a:latin typeface="Times New Roman"/>
            </a:endParaRPr>
          </a:p>
        </p:txBody>
      </p:sp>
      <p:sp>
        <p:nvSpPr>
          <p:cNvPr id="1175" name="Rounded Rectangle 51">
            <a:extLst>
              <a:ext uri="{FF2B5EF4-FFF2-40B4-BE49-F238E27FC236}">
                <a16:creationId xmlns:a16="http://schemas.microsoft.com/office/drawing/2014/main" id="{5B2FEB56-2154-478C-AEDB-0515E931884A}"/>
              </a:ext>
            </a:extLst>
          </p:cNvPr>
          <p:cNvSpPr/>
          <p:nvPr/>
        </p:nvSpPr>
        <p:spPr>
          <a:xfrm>
            <a:off x="480061" y="3894162"/>
            <a:ext cx="8458200" cy="749808"/>
          </a:xfrm>
          <a:prstGeom prst="roundRect">
            <a:avLst/>
          </a:prstGeom>
          <a:solidFill>
            <a:srgbClr val="F6F6F6"/>
          </a:solidFill>
          <a:ln w="889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Rounded Rectangle 52">
            <a:extLst>
              <a:ext uri="{FF2B5EF4-FFF2-40B4-BE49-F238E27FC236}">
                <a16:creationId xmlns:a16="http://schemas.microsoft.com/office/drawing/2014/main" id="{24AAC83C-2833-9A2A-D9F7-C55EFA1728C3}"/>
              </a:ext>
            </a:extLst>
          </p:cNvPr>
          <p:cNvSpPr/>
          <p:nvPr/>
        </p:nvSpPr>
        <p:spPr>
          <a:xfrm>
            <a:off x="960120" y="3995928"/>
            <a:ext cx="205740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Oval 53">
            <a:extLst>
              <a:ext uri="{FF2B5EF4-FFF2-40B4-BE49-F238E27FC236}">
                <a16:creationId xmlns:a16="http://schemas.microsoft.com/office/drawing/2014/main" id="{D87B7E7D-7073-15B2-7DD1-E242BEE0CC97}"/>
              </a:ext>
            </a:extLst>
          </p:cNvPr>
          <p:cNvSpPr/>
          <p:nvPr/>
        </p:nvSpPr>
        <p:spPr>
          <a:xfrm>
            <a:off x="1033272" y="4087368"/>
            <a:ext cx="347472" cy="347472"/>
          </a:xfrm>
          <a:prstGeom prst="ellipse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6D984DB5-02BD-336F-3795-093D078A12B5}"/>
              </a:ext>
            </a:extLst>
          </p:cNvPr>
          <p:cNvSpPr txBox="1"/>
          <p:nvPr/>
        </p:nvSpPr>
        <p:spPr>
          <a:xfrm>
            <a:off x="1033272" y="4137660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43B71E85-E440-F5B4-9342-7F6BB0BC0AEE}"/>
              </a:ext>
            </a:extLst>
          </p:cNvPr>
          <p:cNvSpPr txBox="1"/>
          <p:nvPr/>
        </p:nvSpPr>
        <p:spPr>
          <a:xfrm>
            <a:off x="1463040" y="4069080"/>
            <a:ext cx="1508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MySQL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BFB574F3-7250-4394-E3B5-8459150B0100}"/>
              </a:ext>
            </a:extLst>
          </p:cNvPr>
          <p:cNvSpPr txBox="1"/>
          <p:nvPr/>
        </p:nvSpPr>
        <p:spPr>
          <a:xfrm>
            <a:off x="1463040" y="4306824"/>
            <a:ext cx="1508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збереження даних</a:t>
            </a:r>
          </a:p>
        </p:txBody>
      </p:sp>
      <p:sp>
        <p:nvSpPr>
          <p:cNvPr id="1181" name="Rounded Rectangle 57">
            <a:extLst>
              <a:ext uri="{FF2B5EF4-FFF2-40B4-BE49-F238E27FC236}">
                <a16:creationId xmlns:a16="http://schemas.microsoft.com/office/drawing/2014/main" id="{1B03DE9C-1EEA-BC46-2151-985B4295E2A2}"/>
              </a:ext>
            </a:extLst>
          </p:cNvPr>
          <p:cNvSpPr/>
          <p:nvPr/>
        </p:nvSpPr>
        <p:spPr>
          <a:xfrm>
            <a:off x="3529584" y="3995928"/>
            <a:ext cx="205740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Oval 58">
            <a:extLst>
              <a:ext uri="{FF2B5EF4-FFF2-40B4-BE49-F238E27FC236}">
                <a16:creationId xmlns:a16="http://schemas.microsoft.com/office/drawing/2014/main" id="{F85AC82F-8690-EC24-E377-137E237264A5}"/>
              </a:ext>
            </a:extLst>
          </p:cNvPr>
          <p:cNvSpPr/>
          <p:nvPr/>
        </p:nvSpPr>
        <p:spPr>
          <a:xfrm>
            <a:off x="3602736" y="4087368"/>
            <a:ext cx="347472" cy="347472"/>
          </a:xfrm>
          <a:prstGeom prst="ellips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8FA0331F-2F59-EFD1-12FA-F6F6394E25C6}"/>
              </a:ext>
            </a:extLst>
          </p:cNvPr>
          <p:cNvSpPr txBox="1"/>
          <p:nvPr/>
        </p:nvSpPr>
        <p:spPr>
          <a:xfrm>
            <a:off x="3602736" y="4137660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W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1B0D643C-AD24-1271-C69E-5E0770BD7480}"/>
              </a:ext>
            </a:extLst>
          </p:cNvPr>
          <p:cNvSpPr txBox="1"/>
          <p:nvPr/>
        </p:nvSpPr>
        <p:spPr>
          <a:xfrm>
            <a:off x="4032504" y="4069080"/>
            <a:ext cx="1508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WebSocket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E50CF6B-A6AF-4E8E-93A1-DA9F6A42D42A}"/>
              </a:ext>
            </a:extLst>
          </p:cNvPr>
          <p:cNvSpPr txBox="1"/>
          <p:nvPr/>
        </p:nvSpPr>
        <p:spPr>
          <a:xfrm>
            <a:off x="4032504" y="4306824"/>
            <a:ext cx="1508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реальний час</a:t>
            </a:r>
          </a:p>
        </p:txBody>
      </p:sp>
      <p:sp>
        <p:nvSpPr>
          <p:cNvPr id="1186" name="Rounded Rectangle 62">
            <a:extLst>
              <a:ext uri="{FF2B5EF4-FFF2-40B4-BE49-F238E27FC236}">
                <a16:creationId xmlns:a16="http://schemas.microsoft.com/office/drawing/2014/main" id="{7C2D7E37-2A01-880D-9345-64A2B1C04355}"/>
              </a:ext>
            </a:extLst>
          </p:cNvPr>
          <p:cNvSpPr/>
          <p:nvPr/>
        </p:nvSpPr>
        <p:spPr>
          <a:xfrm>
            <a:off x="6099048" y="3995928"/>
            <a:ext cx="2423160" cy="530352"/>
          </a:xfrm>
          <a:prstGeom prst="roundRect">
            <a:avLst/>
          </a:prstGeom>
          <a:solidFill>
            <a:srgbClr val="EEEEEE"/>
          </a:solidFill>
          <a:ln w="1079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Oval 63">
            <a:extLst>
              <a:ext uri="{FF2B5EF4-FFF2-40B4-BE49-F238E27FC236}">
                <a16:creationId xmlns:a16="http://schemas.microsoft.com/office/drawing/2014/main" id="{1363A795-2A97-019F-B0D9-9B970BAFDED8}"/>
              </a:ext>
            </a:extLst>
          </p:cNvPr>
          <p:cNvSpPr/>
          <p:nvPr/>
        </p:nvSpPr>
        <p:spPr>
          <a:xfrm>
            <a:off x="6172200" y="4087368"/>
            <a:ext cx="347472" cy="347472"/>
          </a:xfrm>
          <a:prstGeom prst="ellipse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F30F2560-96C5-A0B3-6D67-0EFCD8FB750D}"/>
              </a:ext>
            </a:extLst>
          </p:cNvPr>
          <p:cNvSpPr txBox="1"/>
          <p:nvPr/>
        </p:nvSpPr>
        <p:spPr>
          <a:xfrm>
            <a:off x="6172200" y="4137660"/>
            <a:ext cx="34747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3AEFB637-BD93-C591-6EA1-79896E928F2F}"/>
              </a:ext>
            </a:extLst>
          </p:cNvPr>
          <p:cNvSpPr txBox="1"/>
          <p:nvPr/>
        </p:nvSpPr>
        <p:spPr>
          <a:xfrm>
            <a:off x="6601968" y="4069080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rial"/>
              </a:rPr>
              <a:t>STOMP + SockJS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0EC86B16-F56A-9BDF-0623-A99D18E4F82A}"/>
              </a:ext>
            </a:extLst>
          </p:cNvPr>
          <p:cNvSpPr txBox="1"/>
          <p:nvPr/>
        </p:nvSpPr>
        <p:spPr>
          <a:xfrm>
            <a:off x="6601968" y="4306824"/>
            <a:ext cx="187451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70">
                <a:solidFill>
                  <a:srgbClr val="646464"/>
                </a:solidFill>
                <a:latin typeface="Arial"/>
              </a:rPr>
              <a:t>події кімнат і чат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30872AF-A4C1-C1B5-E279-DA00AC240907}"/>
              </a:ext>
            </a:extLst>
          </p:cNvPr>
          <p:cNvSpPr txBox="1"/>
          <p:nvPr/>
        </p:nvSpPr>
        <p:spPr>
          <a:xfrm>
            <a:off x="1495044" y="4761659"/>
            <a:ext cx="6583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646464"/>
                </a:solidFill>
                <a:latin typeface="Arial"/>
              </a:rPr>
              <a:t>Стек орієнтований на синхронізацію відео, чат та керування кімнатами перегляду.</a:t>
            </a:r>
          </a:p>
        </p:txBody>
      </p:sp>
    </p:spTree>
    <p:extLst>
      <p:ext uri="{BB962C8B-B14F-4D97-AF65-F5344CB8AC3E}">
        <p14:creationId xmlns:p14="http://schemas.microsoft.com/office/powerpoint/2010/main" val="344239340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grayscale_presentation_slide_with_a_softwa_2.png"/>
          <p:cNvPicPr>
            <a:picLocks noChangeAspect="1"/>
          </p:cNvPicPr>
          <p:nvPr/>
        </p:nvPicPr>
        <p:blipFill>
          <a:blip r:embed="rId3"/>
          <a:srcRect l="2000" t="12000" r="2000" b="3000"/>
          <a:stretch>
            <a:fillRect/>
          </a:stretch>
        </p:blipFill>
        <p:spPr>
          <a:xfrm>
            <a:off x="502919" y="777240"/>
            <a:ext cx="8306611" cy="3966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0"/>
            <a:ext cx="8522208" cy="832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Архітектура програмної платформи</a:t>
            </a:r>
          </a:p>
        </p:txBody>
      </p:sp>
    </p:spTree>
    <p:extLst>
      <p:ext uri="{BB962C8B-B14F-4D97-AF65-F5344CB8AC3E}">
        <p14:creationId xmlns:p14="http://schemas.microsoft.com/office/powerpoint/2010/main" val="335875592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3" name="Picture 32" descr="image.png">
            <a:extLst>
              <a:ext uri="{FF2B5EF4-FFF2-40B4-BE49-F238E27FC236}">
                <a16:creationId xmlns:a16="http://schemas.microsoft.com/office/drawing/2014/main" id="{F37CD1BA-4BD9-F46F-A28C-3C19401A2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304" y="394104"/>
            <a:ext cx="650000" cy="43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869DC8-B528-50D8-F9AA-F2A1E8C538D1}"/>
              </a:ext>
            </a:extLst>
          </p:cNvPr>
          <p:cNvSpPr txBox="1"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t>Архітектура серверної частини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8A2DFF-DBF8-8C78-D956-4336477DCEBF}"/>
              </a:ext>
            </a:extLst>
          </p:cNvPr>
          <p:cNvSpPr txBox="1"/>
          <p:nvPr/>
        </p:nvSpPr>
        <p:spPr>
          <a:xfrm>
            <a:off x="640080" y="1353312"/>
            <a:ext cx="4206240" cy="9601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Серверна частина WatchTogether реалізована на Java та Spring Boot і побудована за модульним та багатошаровим принципом.</a:t>
            </a:r>
          </a:p>
          <a:p>
            <a:pPr>
              <a:spcBef>
                <a:spcPts val="400"/>
              </a:spcBef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Вона відповідає за авторизацію, кімнати перегляду, синхронізацію відео, чат, сповіщення та взаємодію з базою даних.</a:t>
            </a:r>
          </a:p>
        </p:txBody>
      </p:sp>
      <p:sp>
        <p:nvSpPr>
          <p:cNvPr id="32" name="Rounded Rectangle 6">
            <a:extLst>
              <a:ext uri="{FF2B5EF4-FFF2-40B4-BE49-F238E27FC236}">
                <a16:creationId xmlns:a16="http://schemas.microsoft.com/office/drawing/2014/main" id="{B310B4B9-FD65-A3C6-541B-2445001A354A}"/>
              </a:ext>
            </a:extLst>
          </p:cNvPr>
          <p:cNvSpPr/>
          <p:nvPr/>
        </p:nvSpPr>
        <p:spPr>
          <a:xfrm>
            <a:off x="5623560" y="1143000"/>
            <a:ext cx="254203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30" b="1">
                <a:solidFill>
                  <a:srgbClr val="000000"/>
                </a:solidFill>
                <a:latin typeface="Times New Roman"/>
              </a:defRPr>
            </a:pPr>
            <a:r>
              <a:t>Controller layer</a:t>
            </a:r>
            <a:br/>
            <a:r>
              <a:t>REST / WebSocket endpoints</a:t>
            </a:r>
          </a:p>
        </p:txBody>
      </p:sp>
      <p:cxnSp>
        <p:nvCxnSpPr>
          <p:cNvPr id="33" name="Connector 7">
            <a:extLst>
              <a:ext uri="{FF2B5EF4-FFF2-40B4-BE49-F238E27FC236}">
                <a16:creationId xmlns:a16="http://schemas.microsoft.com/office/drawing/2014/main" id="{C87F1862-AC47-FFF0-F618-A2A648D83D8D}"/>
              </a:ext>
            </a:extLst>
          </p:cNvPr>
          <p:cNvCxnSpPr/>
          <p:nvPr/>
        </p:nvCxnSpPr>
        <p:spPr>
          <a:xfrm>
            <a:off x="6894576" y="1554480"/>
            <a:ext cx="0" cy="109727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C9E67B68-454A-2754-46CB-D885ECBB823E}"/>
              </a:ext>
            </a:extLst>
          </p:cNvPr>
          <p:cNvSpPr/>
          <p:nvPr/>
        </p:nvSpPr>
        <p:spPr>
          <a:xfrm>
            <a:off x="5623560" y="1664208"/>
            <a:ext cx="2542032" cy="4114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30" b="1">
                <a:solidFill>
                  <a:srgbClr val="000000"/>
                </a:solidFill>
                <a:latin typeface="Times New Roman"/>
              </a:defRPr>
            </a:pPr>
            <a:r>
              <a:t>Service layer</a:t>
            </a:r>
            <a:br/>
            <a:r>
              <a:t>бізнес-логіка</a:t>
            </a:r>
          </a:p>
        </p:txBody>
      </p:sp>
      <p:cxnSp>
        <p:nvCxnSpPr>
          <p:cNvPr id="35" name="Connector 9">
            <a:extLst>
              <a:ext uri="{FF2B5EF4-FFF2-40B4-BE49-F238E27FC236}">
                <a16:creationId xmlns:a16="http://schemas.microsoft.com/office/drawing/2014/main" id="{314F7A67-459A-4C5C-3A5C-C7835D2016C4}"/>
              </a:ext>
            </a:extLst>
          </p:cNvPr>
          <p:cNvCxnSpPr/>
          <p:nvPr/>
        </p:nvCxnSpPr>
        <p:spPr>
          <a:xfrm>
            <a:off x="6894576" y="2075688"/>
            <a:ext cx="0" cy="109728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10">
            <a:extLst>
              <a:ext uri="{FF2B5EF4-FFF2-40B4-BE49-F238E27FC236}">
                <a16:creationId xmlns:a16="http://schemas.microsoft.com/office/drawing/2014/main" id="{3F0F6F79-7822-EC4F-80C6-98C10C0C1F25}"/>
              </a:ext>
            </a:extLst>
          </p:cNvPr>
          <p:cNvSpPr/>
          <p:nvPr/>
        </p:nvSpPr>
        <p:spPr>
          <a:xfrm>
            <a:off x="5623560" y="2185416"/>
            <a:ext cx="254203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30" b="1">
                <a:solidFill>
                  <a:srgbClr val="000000"/>
                </a:solidFill>
                <a:latin typeface="Times New Roman"/>
              </a:defRPr>
            </a:pPr>
            <a:r>
              <a:t>Repository layer</a:t>
            </a:r>
            <a:br/>
            <a:r>
              <a:t>Spring Data JPA</a:t>
            </a:r>
          </a:p>
        </p:txBody>
      </p:sp>
      <p:cxnSp>
        <p:nvCxnSpPr>
          <p:cNvPr id="37" name="Connector 11">
            <a:extLst>
              <a:ext uri="{FF2B5EF4-FFF2-40B4-BE49-F238E27FC236}">
                <a16:creationId xmlns:a16="http://schemas.microsoft.com/office/drawing/2014/main" id="{9BB5D9BA-583F-F555-8688-7B52F3477734}"/>
              </a:ext>
            </a:extLst>
          </p:cNvPr>
          <p:cNvCxnSpPr/>
          <p:nvPr/>
        </p:nvCxnSpPr>
        <p:spPr>
          <a:xfrm>
            <a:off x="6894576" y="2596896"/>
            <a:ext cx="0" cy="109728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08501572-B7E4-287B-A48D-D62852CDD674}"/>
              </a:ext>
            </a:extLst>
          </p:cNvPr>
          <p:cNvSpPr/>
          <p:nvPr/>
        </p:nvSpPr>
        <p:spPr>
          <a:xfrm>
            <a:off x="5623560" y="2706624"/>
            <a:ext cx="2542032" cy="4114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30" b="1">
                <a:solidFill>
                  <a:srgbClr val="000000"/>
                </a:solidFill>
                <a:latin typeface="Times New Roman"/>
              </a:defRPr>
            </a:pPr>
            <a:r>
              <a:t>Domain layer</a:t>
            </a:r>
            <a:br/>
            <a:r>
              <a:t>сутності та DTO</a:t>
            </a:r>
          </a:p>
        </p:txBody>
      </p:sp>
      <p:cxnSp>
        <p:nvCxnSpPr>
          <p:cNvPr id="39" name="Connector 13">
            <a:extLst>
              <a:ext uri="{FF2B5EF4-FFF2-40B4-BE49-F238E27FC236}">
                <a16:creationId xmlns:a16="http://schemas.microsoft.com/office/drawing/2014/main" id="{58607C34-EB83-B767-0495-FDB7AE663C6D}"/>
              </a:ext>
            </a:extLst>
          </p:cNvPr>
          <p:cNvCxnSpPr/>
          <p:nvPr/>
        </p:nvCxnSpPr>
        <p:spPr>
          <a:xfrm>
            <a:off x="6894576" y="3118104"/>
            <a:ext cx="0" cy="109728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14">
            <a:extLst>
              <a:ext uri="{FF2B5EF4-FFF2-40B4-BE49-F238E27FC236}">
                <a16:creationId xmlns:a16="http://schemas.microsoft.com/office/drawing/2014/main" id="{22F1E599-92FD-A1A6-AB71-049A7E03B5C3}"/>
              </a:ext>
            </a:extLst>
          </p:cNvPr>
          <p:cNvSpPr/>
          <p:nvPr/>
        </p:nvSpPr>
        <p:spPr>
          <a:xfrm>
            <a:off x="5623560" y="3227832"/>
            <a:ext cx="254203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30" b="1">
                <a:solidFill>
                  <a:srgbClr val="000000"/>
                </a:solidFill>
                <a:latin typeface="Times New Roman"/>
              </a:defRPr>
            </a:pPr>
            <a:r>
              <a:t>Database</a:t>
            </a:r>
            <a:br/>
            <a:r>
              <a:t>MySQL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A9076A-4F6A-AC46-46E6-CBE4691C1A92}"/>
              </a:ext>
            </a:extLst>
          </p:cNvPr>
          <p:cNvSpPr txBox="1"/>
          <p:nvPr/>
        </p:nvSpPr>
        <p:spPr>
          <a:xfrm>
            <a:off x="640080" y="2697480"/>
            <a:ext cx="33375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Основні серверні модулі</a:t>
            </a:r>
          </a:p>
        </p:txBody>
      </p: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81DD361E-BA7D-C8E4-16E8-E20D3808CB0A}"/>
              </a:ext>
            </a:extLst>
          </p:cNvPr>
          <p:cNvSpPr/>
          <p:nvPr/>
        </p:nvSpPr>
        <p:spPr>
          <a:xfrm>
            <a:off x="640080" y="3054096"/>
            <a:ext cx="96012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00" b="1">
                <a:solidFill>
                  <a:srgbClr val="000000"/>
                </a:solidFill>
                <a:latin typeface="Times New Roman"/>
              </a:defRPr>
            </a:pPr>
            <a:r>
              <a:t>Auth</a:t>
            </a:r>
            <a:br/>
            <a:r>
              <a:t>JWT</a:t>
            </a:r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22AB477E-681D-6D93-C0B8-939EE973DFC6}"/>
              </a:ext>
            </a:extLst>
          </p:cNvPr>
          <p:cNvSpPr/>
          <p:nvPr/>
        </p:nvSpPr>
        <p:spPr>
          <a:xfrm>
            <a:off x="1709928" y="3054096"/>
            <a:ext cx="96012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00" b="1">
                <a:solidFill>
                  <a:srgbClr val="000000"/>
                </a:solidFill>
                <a:latin typeface="Times New Roman"/>
              </a:defRPr>
            </a:pPr>
            <a:r>
              <a:t>Users</a:t>
            </a:r>
            <a:br/>
            <a:r>
              <a:t>профілі</a:t>
            </a:r>
          </a:p>
        </p:txBody>
      </p:sp>
      <p:sp>
        <p:nvSpPr>
          <p:cNvPr id="44" name="Rounded Rectangle 18">
            <a:extLst>
              <a:ext uri="{FF2B5EF4-FFF2-40B4-BE49-F238E27FC236}">
                <a16:creationId xmlns:a16="http://schemas.microsoft.com/office/drawing/2014/main" id="{4562B6D7-F1C0-3326-0F3C-DB7E451411B0}"/>
              </a:ext>
            </a:extLst>
          </p:cNvPr>
          <p:cNvSpPr/>
          <p:nvPr/>
        </p:nvSpPr>
        <p:spPr>
          <a:xfrm>
            <a:off x="2779776" y="3054096"/>
            <a:ext cx="96012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00" b="1">
                <a:solidFill>
                  <a:srgbClr val="000000"/>
                </a:solidFill>
                <a:latin typeface="Times New Roman"/>
              </a:defRPr>
            </a:pPr>
            <a:r>
              <a:t>Rooms</a:t>
            </a:r>
            <a:br/>
            <a:r>
              <a:t>кімнати</a:t>
            </a:r>
          </a:p>
        </p:txBody>
      </p:sp>
      <p:sp>
        <p:nvSpPr>
          <p:cNvPr id="45" name="Rounded Rectangle 19">
            <a:extLst>
              <a:ext uri="{FF2B5EF4-FFF2-40B4-BE49-F238E27FC236}">
                <a16:creationId xmlns:a16="http://schemas.microsoft.com/office/drawing/2014/main" id="{A51B4D63-4D64-B051-F1AB-BE5F510858FA}"/>
              </a:ext>
            </a:extLst>
          </p:cNvPr>
          <p:cNvSpPr/>
          <p:nvPr/>
        </p:nvSpPr>
        <p:spPr>
          <a:xfrm>
            <a:off x="3849624" y="3054096"/>
            <a:ext cx="96012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00" b="1">
                <a:solidFill>
                  <a:srgbClr val="000000"/>
                </a:solidFill>
                <a:latin typeface="Times New Roman"/>
              </a:defRPr>
            </a:pPr>
            <a:r>
              <a:t>Playback</a:t>
            </a:r>
            <a:br/>
            <a:r>
              <a:t>sync</a:t>
            </a:r>
          </a:p>
        </p:txBody>
      </p:sp>
      <p:sp>
        <p:nvSpPr>
          <p:cNvPr id="46" name="Rounded Rectangle 20">
            <a:extLst>
              <a:ext uri="{FF2B5EF4-FFF2-40B4-BE49-F238E27FC236}">
                <a16:creationId xmlns:a16="http://schemas.microsoft.com/office/drawing/2014/main" id="{23DF6C39-9BEB-555C-9CE4-724066639600}"/>
              </a:ext>
            </a:extLst>
          </p:cNvPr>
          <p:cNvSpPr/>
          <p:nvPr/>
        </p:nvSpPr>
        <p:spPr>
          <a:xfrm>
            <a:off x="640080" y="3666744"/>
            <a:ext cx="96012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00" b="1">
                <a:solidFill>
                  <a:srgbClr val="000000"/>
                </a:solidFill>
                <a:latin typeface="Times New Roman"/>
              </a:defRPr>
            </a:pPr>
            <a:r>
              <a:t>Chat</a:t>
            </a:r>
            <a:br/>
            <a:r>
              <a:t>чат</a:t>
            </a:r>
          </a:p>
        </p:txBody>
      </p:sp>
      <p:sp>
        <p:nvSpPr>
          <p:cNvPr id="47" name="Rounded Rectangle 21">
            <a:extLst>
              <a:ext uri="{FF2B5EF4-FFF2-40B4-BE49-F238E27FC236}">
                <a16:creationId xmlns:a16="http://schemas.microsoft.com/office/drawing/2014/main" id="{4AF36534-6A96-A95C-CCC1-61836739321B}"/>
              </a:ext>
            </a:extLst>
          </p:cNvPr>
          <p:cNvSpPr/>
          <p:nvPr/>
        </p:nvSpPr>
        <p:spPr>
          <a:xfrm>
            <a:off x="1709928" y="3666744"/>
            <a:ext cx="96012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00" b="1">
                <a:solidFill>
                  <a:srgbClr val="000000"/>
                </a:solidFill>
                <a:latin typeface="Times New Roman"/>
              </a:defRPr>
            </a:pPr>
            <a:r>
              <a:t>Queue</a:t>
            </a:r>
            <a:br/>
            <a:r>
              <a:t>черга</a:t>
            </a:r>
          </a:p>
        </p:txBody>
      </p:sp>
      <p:sp>
        <p:nvSpPr>
          <p:cNvPr id="48" name="Rounded Rectangle 22">
            <a:extLst>
              <a:ext uri="{FF2B5EF4-FFF2-40B4-BE49-F238E27FC236}">
                <a16:creationId xmlns:a16="http://schemas.microsoft.com/office/drawing/2014/main" id="{CB1801D2-3BE5-7D47-D2EC-E6E927DAAF7A}"/>
              </a:ext>
            </a:extLst>
          </p:cNvPr>
          <p:cNvSpPr/>
          <p:nvPr/>
        </p:nvSpPr>
        <p:spPr>
          <a:xfrm>
            <a:off x="2779776" y="3666744"/>
            <a:ext cx="96012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00" b="1">
                <a:solidFill>
                  <a:srgbClr val="000000"/>
                </a:solidFill>
                <a:latin typeface="Times New Roman"/>
              </a:defRPr>
            </a:pPr>
            <a:r>
              <a:t>Notifications</a:t>
            </a:r>
            <a:br/>
            <a:r>
              <a:t>події</a:t>
            </a:r>
          </a:p>
        </p:txBody>
      </p:sp>
      <p:sp>
        <p:nvSpPr>
          <p:cNvPr id="49" name="Rounded Rectangle 23">
            <a:extLst>
              <a:ext uri="{FF2B5EF4-FFF2-40B4-BE49-F238E27FC236}">
                <a16:creationId xmlns:a16="http://schemas.microsoft.com/office/drawing/2014/main" id="{9F478893-92A0-A12C-33A3-C9E7D2C372EA}"/>
              </a:ext>
            </a:extLst>
          </p:cNvPr>
          <p:cNvSpPr/>
          <p:nvPr/>
        </p:nvSpPr>
        <p:spPr>
          <a:xfrm>
            <a:off x="3849624" y="3666744"/>
            <a:ext cx="96012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00" b="1">
                <a:solidFill>
                  <a:srgbClr val="000000"/>
                </a:solidFill>
                <a:latin typeface="Times New Roman"/>
              </a:defRPr>
            </a:pPr>
            <a:r>
              <a:t>Media</a:t>
            </a:r>
            <a:br/>
            <a:r>
              <a:t>відео</a:t>
            </a:r>
          </a:p>
        </p:txBody>
      </p:sp>
      <p:sp>
        <p:nvSpPr>
          <p:cNvPr id="50" name="Rounded Rectangle 24">
            <a:extLst>
              <a:ext uri="{FF2B5EF4-FFF2-40B4-BE49-F238E27FC236}">
                <a16:creationId xmlns:a16="http://schemas.microsoft.com/office/drawing/2014/main" id="{BA56521E-4F76-8891-86E0-A01A03858DFC}"/>
              </a:ext>
            </a:extLst>
          </p:cNvPr>
          <p:cNvSpPr/>
          <p:nvPr/>
        </p:nvSpPr>
        <p:spPr>
          <a:xfrm>
            <a:off x="640080" y="4343400"/>
            <a:ext cx="32461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50" b="0">
                <a:solidFill>
                  <a:srgbClr val="000000"/>
                </a:solidFill>
                <a:latin typeface="Times New Roman"/>
              </a:defRPr>
            </a:pPr>
            <a:r>
              <a:t>REST API: авторизація, профіль, кімнати, черга перегляду</a:t>
            </a:r>
          </a:p>
        </p:txBody>
      </p:sp>
      <p:sp>
        <p:nvSpPr>
          <p:cNvPr id="51" name="Rounded Rectangle 25">
            <a:extLst>
              <a:ext uri="{FF2B5EF4-FFF2-40B4-BE49-F238E27FC236}">
                <a16:creationId xmlns:a16="http://schemas.microsoft.com/office/drawing/2014/main" id="{0086588D-FFE9-060B-006A-793B3F2B0848}"/>
              </a:ext>
            </a:extLst>
          </p:cNvPr>
          <p:cNvSpPr/>
          <p:nvPr/>
        </p:nvSpPr>
        <p:spPr>
          <a:xfrm>
            <a:off x="4069080" y="4343400"/>
            <a:ext cx="32461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950" b="0">
                <a:solidFill>
                  <a:srgbClr val="000000"/>
                </a:solidFill>
                <a:latin typeface="Times New Roman"/>
              </a:defRPr>
            </a:pPr>
            <a:r>
              <a:t>WebSocket: чат, стан відео, список учасників, сповіщення</a:t>
            </a:r>
          </a:p>
        </p:txBody>
      </p:sp>
      <p:sp>
        <p:nvSpPr>
          <p:cNvPr id="52" name="Rounded Rectangle 26">
            <a:extLst>
              <a:ext uri="{FF2B5EF4-FFF2-40B4-BE49-F238E27FC236}">
                <a16:creationId xmlns:a16="http://schemas.microsoft.com/office/drawing/2014/main" id="{EC1B9301-EB55-9B89-4709-EE5CD7FC967B}"/>
              </a:ext>
            </a:extLst>
          </p:cNvPr>
          <p:cNvSpPr/>
          <p:nvPr/>
        </p:nvSpPr>
        <p:spPr>
          <a:xfrm>
            <a:off x="640080" y="4690872"/>
            <a:ext cx="7543800" cy="228600"/>
          </a:xfrm>
          <a:prstGeom prst="roundRect">
            <a:avLst/>
          </a:prstGeom>
          <a:solidFill>
            <a:srgbClr val="E6E6E6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>
              <a:defRPr sz="880" b="0">
                <a:solidFill>
                  <a:srgbClr val="000000"/>
                </a:solidFill>
                <a:latin typeface="Times New Roman"/>
              </a:defRPr>
            </a:pPr>
            <a:r>
              <a:t>Запит користувача → REST API або WebSocket → сервісна логіка → база даних → оновлення інтерфейсу</a:t>
            </a:r>
          </a:p>
        </p:txBody>
      </p:sp>
    </p:spTree>
    <p:extLst>
      <p:ext uri="{BB962C8B-B14F-4D97-AF65-F5344CB8AC3E}">
        <p14:creationId xmlns:p14="http://schemas.microsoft.com/office/powerpoint/2010/main" val="1481074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4" name="Picture 26" descr="image.png">
            <a:extLst>
              <a:ext uri="{FF2B5EF4-FFF2-40B4-BE49-F238E27FC236}">
                <a16:creationId xmlns:a16="http://schemas.microsoft.com/office/drawing/2014/main" id="{84C92304-7961-D6D0-3D86-E98703894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960" y="375816"/>
            <a:ext cx="650000" cy="4380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C2676BC-5A12-B948-D9DA-A5E7B7193CC6}"/>
              </a:ext>
            </a:extLst>
          </p:cNvPr>
          <p:cNvSpPr/>
          <p:nvPr/>
        </p:nvSpPr>
        <p:spPr>
          <a:xfrm>
            <a:off x="411480" y="932688"/>
            <a:ext cx="7680960" cy="9144"/>
          </a:xfrm>
          <a:prstGeom prst="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9A9FB4-F396-B01F-A115-6B7BF5E1723E}"/>
              </a:ext>
            </a:extLst>
          </p:cNvPr>
          <p:cNvSpPr txBox="1"/>
          <p:nvPr/>
        </p:nvSpPr>
        <p:spPr>
          <a:xfrm>
            <a:off x="502920" y="1078992"/>
            <a:ext cx="82296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350">
                <a:solidFill>
                  <a:srgbClr val="545454"/>
                </a:solidFill>
                <a:latin typeface="Times New Roman"/>
              </a:rPr>
              <a:t>Алгоритм синхронізує команди PLAY, PAUSE та SEEK між усіма учасниками кімнати.</a:t>
            </a:r>
          </a:p>
        </p:txBody>
      </p:sp>
      <p:cxnSp>
        <p:nvCxnSpPr>
          <p:cNvPr id="26" name="Connector 6">
            <a:extLst>
              <a:ext uri="{FF2B5EF4-FFF2-40B4-BE49-F238E27FC236}">
                <a16:creationId xmlns:a16="http://schemas.microsoft.com/office/drawing/2014/main" id="{09ADAE3F-CE80-66EF-9E04-D27CC1E1F880}"/>
              </a:ext>
            </a:extLst>
          </p:cNvPr>
          <p:cNvCxnSpPr/>
          <p:nvPr/>
        </p:nvCxnSpPr>
        <p:spPr>
          <a:xfrm>
            <a:off x="1920240" y="1911095"/>
            <a:ext cx="228600" cy="0"/>
          </a:xfrm>
          <a:prstGeom prst="line">
            <a:avLst/>
          </a:prstGeom>
          <a:ln w="13970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7">
            <a:extLst>
              <a:ext uri="{FF2B5EF4-FFF2-40B4-BE49-F238E27FC236}">
                <a16:creationId xmlns:a16="http://schemas.microsoft.com/office/drawing/2014/main" id="{B6AF78C6-E745-F56F-33EF-35676F5B4558}"/>
              </a:ext>
            </a:extLst>
          </p:cNvPr>
          <p:cNvCxnSpPr/>
          <p:nvPr/>
        </p:nvCxnSpPr>
        <p:spPr>
          <a:xfrm>
            <a:off x="3566160" y="1911095"/>
            <a:ext cx="228600" cy="0"/>
          </a:xfrm>
          <a:prstGeom prst="line">
            <a:avLst/>
          </a:prstGeom>
          <a:ln w="13970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8">
            <a:extLst>
              <a:ext uri="{FF2B5EF4-FFF2-40B4-BE49-F238E27FC236}">
                <a16:creationId xmlns:a16="http://schemas.microsoft.com/office/drawing/2014/main" id="{101BA3A0-9240-6BBE-F9A8-DAD3755ECAA0}"/>
              </a:ext>
            </a:extLst>
          </p:cNvPr>
          <p:cNvCxnSpPr/>
          <p:nvPr/>
        </p:nvCxnSpPr>
        <p:spPr>
          <a:xfrm>
            <a:off x="5212080" y="1911095"/>
            <a:ext cx="228600" cy="0"/>
          </a:xfrm>
          <a:prstGeom prst="line">
            <a:avLst/>
          </a:prstGeom>
          <a:ln w="13970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9">
            <a:extLst>
              <a:ext uri="{FF2B5EF4-FFF2-40B4-BE49-F238E27FC236}">
                <a16:creationId xmlns:a16="http://schemas.microsoft.com/office/drawing/2014/main" id="{C8695C3C-F390-A630-FD8F-A00F94C0D1C8}"/>
              </a:ext>
            </a:extLst>
          </p:cNvPr>
          <p:cNvCxnSpPr/>
          <p:nvPr/>
        </p:nvCxnSpPr>
        <p:spPr>
          <a:xfrm>
            <a:off x="6858000" y="1911095"/>
            <a:ext cx="228600" cy="0"/>
          </a:xfrm>
          <a:prstGeom prst="line">
            <a:avLst/>
          </a:prstGeom>
          <a:ln w="13970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423DBEF4-F23C-01CA-99BA-E52E4C2732DB}"/>
              </a:ext>
            </a:extLst>
          </p:cNvPr>
          <p:cNvSpPr/>
          <p:nvPr/>
        </p:nvSpPr>
        <p:spPr>
          <a:xfrm>
            <a:off x="502920" y="1627632"/>
            <a:ext cx="1417320" cy="566928"/>
          </a:xfrm>
          <a:prstGeom prst="roundRect">
            <a:avLst/>
          </a:prstGeom>
          <a:solidFill>
            <a:srgbClr val="FDFDFD"/>
          </a:solidFill>
          <a:ln w="13335">
            <a:solidFill>
              <a:srgbClr val="4E4E4E"/>
            </a:solidFill>
          </a:ln>
          <a:effectLst>
            <a:outerShdw blurRad="38000" dist="22000" dir="5400000">
              <a:srgbClr val="A8A8A8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Команда</a:t>
            </a:r>
          </a:p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користувача</a:t>
            </a:r>
          </a:p>
        </p:txBody>
      </p:sp>
      <p:sp>
        <p:nvSpPr>
          <p:cNvPr id="31" name="Rounded Rectangle 11">
            <a:extLst>
              <a:ext uri="{FF2B5EF4-FFF2-40B4-BE49-F238E27FC236}">
                <a16:creationId xmlns:a16="http://schemas.microsoft.com/office/drawing/2014/main" id="{201E86FB-1A2F-CA75-EDBC-112428564084}"/>
              </a:ext>
            </a:extLst>
          </p:cNvPr>
          <p:cNvSpPr/>
          <p:nvPr/>
        </p:nvSpPr>
        <p:spPr>
          <a:xfrm>
            <a:off x="2148840" y="1627632"/>
            <a:ext cx="1417320" cy="566928"/>
          </a:xfrm>
          <a:prstGeom prst="roundRect">
            <a:avLst/>
          </a:prstGeom>
          <a:solidFill>
            <a:srgbClr val="FDFDFD"/>
          </a:solidFill>
          <a:ln w="13335">
            <a:solidFill>
              <a:srgbClr val="4E4E4E"/>
            </a:solidFill>
          </a:ln>
          <a:effectLst>
            <a:outerShdw blurRad="38000" dist="22000" dir="5400000">
              <a:srgbClr val="A8A8A8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Перевірка</a:t>
            </a:r>
          </a:p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доступу</a:t>
            </a: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9E0CC6E2-DBBD-26B9-DF23-863E0DF894ED}"/>
              </a:ext>
            </a:extLst>
          </p:cNvPr>
          <p:cNvSpPr/>
          <p:nvPr/>
        </p:nvSpPr>
        <p:spPr>
          <a:xfrm>
            <a:off x="3794760" y="1627632"/>
            <a:ext cx="1417320" cy="566928"/>
          </a:xfrm>
          <a:prstGeom prst="roundRect">
            <a:avLst/>
          </a:prstGeom>
          <a:solidFill>
            <a:srgbClr val="FDFDFD"/>
          </a:solidFill>
          <a:ln w="13335">
            <a:solidFill>
              <a:srgbClr val="4E4E4E"/>
            </a:solidFill>
          </a:ln>
          <a:effectLst>
            <a:outerShdw blurRad="38000" dist="22000" dir="5400000">
              <a:srgbClr val="A8A8A8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Оновлення</a:t>
            </a:r>
          </a:p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PlaybackState</a:t>
            </a:r>
          </a:p>
        </p:txBody>
      </p:sp>
      <p:sp>
        <p:nvSpPr>
          <p:cNvPr id="33" name="Rounded Rectangle 13">
            <a:extLst>
              <a:ext uri="{FF2B5EF4-FFF2-40B4-BE49-F238E27FC236}">
                <a16:creationId xmlns:a16="http://schemas.microsoft.com/office/drawing/2014/main" id="{CD6B171B-83FD-C1F4-5135-0AA90CE239A9}"/>
              </a:ext>
            </a:extLst>
          </p:cNvPr>
          <p:cNvSpPr/>
          <p:nvPr/>
        </p:nvSpPr>
        <p:spPr>
          <a:xfrm>
            <a:off x="5440680" y="1627632"/>
            <a:ext cx="1417320" cy="566928"/>
          </a:xfrm>
          <a:prstGeom prst="roundRect">
            <a:avLst/>
          </a:prstGeom>
          <a:solidFill>
            <a:srgbClr val="FDFDFD"/>
          </a:solidFill>
          <a:ln w="13335">
            <a:solidFill>
              <a:srgbClr val="4E4E4E"/>
            </a:solidFill>
          </a:ln>
          <a:effectLst>
            <a:outerShdw blurRad="38000" dist="22000" dir="5400000">
              <a:srgbClr val="A8A8A8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Запис</a:t>
            </a:r>
          </a:p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PlaybackEvent</a:t>
            </a: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1F1D6F30-9DA8-384C-7B41-5FE2DBD2BCDB}"/>
              </a:ext>
            </a:extLst>
          </p:cNvPr>
          <p:cNvSpPr/>
          <p:nvPr/>
        </p:nvSpPr>
        <p:spPr>
          <a:xfrm>
            <a:off x="7086600" y="1627632"/>
            <a:ext cx="1417320" cy="566928"/>
          </a:xfrm>
          <a:prstGeom prst="roundRect">
            <a:avLst/>
          </a:prstGeom>
          <a:solidFill>
            <a:srgbClr val="FDFDFD"/>
          </a:solidFill>
          <a:ln w="13335">
            <a:solidFill>
              <a:srgbClr val="4E4E4E"/>
            </a:solidFill>
          </a:ln>
          <a:effectLst>
            <a:outerShdw blurRad="38000" dist="22000" dir="5400000">
              <a:srgbClr val="A8A8A8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WebSocket</a:t>
            </a:r>
          </a:p>
          <a:p>
            <a:pPr algn="ctr"/>
            <a:r>
              <a:rPr sz="1130" b="1">
                <a:solidFill>
                  <a:srgbClr val="232323"/>
                </a:solidFill>
                <a:latin typeface="Times New Roman"/>
              </a:rPr>
              <a:t>broadcast</a:t>
            </a: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AD2ECD73-8397-60DA-2404-8E11D1D215A0}"/>
              </a:ext>
            </a:extLst>
          </p:cNvPr>
          <p:cNvSpPr/>
          <p:nvPr/>
        </p:nvSpPr>
        <p:spPr>
          <a:xfrm>
            <a:off x="548640" y="2670048"/>
            <a:ext cx="2651760" cy="1051560"/>
          </a:xfrm>
          <a:prstGeom prst="rect">
            <a:avLst/>
          </a:prstGeom>
          <a:solidFill>
            <a:srgbClr val="E1E1E1"/>
          </a:solidFill>
          <a:ln w="10160">
            <a:solidFill>
              <a:srgbClr val="C8C8C8"/>
            </a:solidFill>
          </a:ln>
          <a:effectLst>
            <a:outerShdw blurRad="38000" dist="22000" dir="5400000">
              <a:srgbClr val="A8A8A8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80" b="1">
                <a:solidFill>
                  <a:srgbClr val="232323"/>
                </a:solidFill>
                <a:latin typeface="Times New Roman"/>
              </a:rPr>
              <a:t>PLAY • PAUSE • SEEK</a:t>
            </a:r>
          </a:p>
          <a:p>
            <a:pPr algn="ctr"/>
            <a:r>
              <a:rPr sz="1180" b="1">
                <a:solidFill>
                  <a:srgbClr val="232323"/>
                </a:solidFill>
                <a:latin typeface="Times New Roman"/>
              </a:rPr>
              <a:t>roomCode + action + positionSeconds</a:t>
            </a:r>
          </a:p>
          <a:p>
            <a:pPr algn="ctr"/>
            <a:r>
              <a:rPr sz="1180" b="1">
                <a:solidFill>
                  <a:srgbClr val="232323"/>
                </a:solidFill>
                <a:latin typeface="Times New Roman"/>
              </a:rPr>
              <a:t>поточний користувач через Principal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7B81F1-BB13-0453-4F9E-BB19E0468C4C}"/>
              </a:ext>
            </a:extLst>
          </p:cNvPr>
          <p:cNvSpPr txBox="1"/>
          <p:nvPr/>
        </p:nvSpPr>
        <p:spPr>
          <a:xfrm>
            <a:off x="3520440" y="2633472"/>
            <a:ext cx="21031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Times New Roman"/>
              </a:rPr>
              <a:t>Що перевіряє система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7B21F-2D97-2F3B-DDD6-F9C0FADAE819}"/>
              </a:ext>
            </a:extLst>
          </p:cNvPr>
          <p:cNvSpPr txBox="1"/>
          <p:nvPr/>
        </p:nvSpPr>
        <p:spPr>
          <a:xfrm>
            <a:off x="3547872" y="2926080"/>
            <a:ext cx="2103120" cy="777240"/>
          </a:xfrm>
          <a:prstGeom prst="rect">
            <a:avLst/>
          </a:prstGeom>
          <a:noFill/>
        </p:spPr>
        <p:txBody>
          <a:bodyPr wrap="square" lIns="18288" tIns="0" rIns="18288">
            <a:spAutoFit/>
          </a:bodyPr>
          <a:lstStyle/>
          <a:p>
            <a:pPr>
              <a:defRPr sz="1180">
                <a:solidFill>
                  <a:srgbClr val="232323"/>
                </a:solidFill>
                <a:latin typeface="Times New Roman"/>
              </a:defRPr>
            </a:pPr>
            <a:r>
              <a:t>активність кімнати;</a:t>
            </a:r>
          </a:p>
          <a:p>
            <a:pPr>
              <a:defRPr sz="1180">
                <a:solidFill>
                  <a:srgbClr val="232323"/>
                </a:solidFill>
                <a:latin typeface="Times New Roman"/>
              </a:defRPr>
            </a:pPr>
            <a:r>
              <a:t>участь користувача у кімнаті;</a:t>
            </a:r>
          </a:p>
          <a:p>
            <a:pPr>
              <a:defRPr sz="1180">
                <a:solidFill>
                  <a:srgbClr val="232323"/>
                </a:solidFill>
                <a:latin typeface="Times New Roman"/>
              </a:defRPr>
            </a:pPr>
            <a:r>
              <a:t>право керування відтворенням.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36BB85-F4E8-CDF5-F7B6-E64057617B06}"/>
              </a:ext>
            </a:extLst>
          </p:cNvPr>
          <p:cNvSpPr txBox="1"/>
          <p:nvPr/>
        </p:nvSpPr>
        <p:spPr>
          <a:xfrm>
            <a:off x="6035040" y="2633472"/>
            <a:ext cx="246888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Times New Roman"/>
              </a:rPr>
              <a:t>Результат роботи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17BEF2-5D2A-4495-D9C8-107DA9349A9D}"/>
              </a:ext>
            </a:extLst>
          </p:cNvPr>
          <p:cNvSpPr txBox="1"/>
          <p:nvPr/>
        </p:nvSpPr>
        <p:spPr>
          <a:xfrm>
            <a:off x="6053328" y="2926080"/>
            <a:ext cx="2606040" cy="868680"/>
          </a:xfrm>
          <a:prstGeom prst="rect">
            <a:avLst/>
          </a:prstGeom>
          <a:noFill/>
        </p:spPr>
        <p:txBody>
          <a:bodyPr wrap="square" lIns="18288" tIns="0" rIns="18288">
            <a:spAutoFit/>
          </a:bodyPr>
          <a:lstStyle/>
          <a:p>
            <a:pPr>
              <a:defRPr sz="1180">
                <a:solidFill>
                  <a:srgbClr val="232323"/>
                </a:solidFill>
                <a:latin typeface="Times New Roman"/>
              </a:defRPr>
            </a:pPr>
            <a:r>
              <a:t>оновлений статус і позиція відео;</a:t>
            </a:r>
          </a:p>
          <a:p>
            <a:pPr>
              <a:defRPr sz="1180">
                <a:solidFill>
                  <a:srgbClr val="232323"/>
                </a:solidFill>
                <a:latin typeface="Times New Roman"/>
              </a:defRPr>
            </a:pPr>
            <a:r>
              <a:t>збереження події в історії;</a:t>
            </a:r>
          </a:p>
          <a:p>
            <a:pPr>
              <a:defRPr sz="1180">
                <a:solidFill>
                  <a:srgbClr val="232323"/>
                </a:solidFill>
                <a:latin typeface="Times New Roman"/>
              </a:defRPr>
            </a:pPr>
            <a:r>
              <a:t>розсилка стану всім клієнтам.</a:t>
            </a:r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46FBD140-D12A-3E8C-8009-1A773C006D6D}"/>
              </a:ext>
            </a:extLst>
          </p:cNvPr>
          <p:cNvSpPr/>
          <p:nvPr/>
        </p:nvSpPr>
        <p:spPr>
          <a:xfrm>
            <a:off x="502920" y="4343400"/>
            <a:ext cx="8138160" cy="384048"/>
          </a:xfrm>
          <a:prstGeom prst="rect">
            <a:avLst/>
          </a:prstGeom>
          <a:solidFill>
            <a:srgbClr val="E6E6E6"/>
          </a:solidFill>
          <a:ln w="10160">
            <a:solidFill>
              <a:srgbClr val="C8C8C8"/>
            </a:solidFill>
          </a:ln>
          <a:effectLst>
            <a:outerShdw blurRad="38000" dist="22000" dir="5400000">
              <a:srgbClr val="A8A8A8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40" b="0">
                <a:solidFill>
                  <a:srgbClr val="232323"/>
                </a:solidFill>
                <a:latin typeface="Times New Roman"/>
              </a:rPr>
              <a:t>Ключова ідея: сервер зберігає єдиний актуальний стан плеєра та миттєво передає його учасникам через WebSocket.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900A54-DEF9-065A-3034-D14966FCDE1B}"/>
              </a:ext>
            </a:extLst>
          </p:cNvPr>
          <p:cNvSpPr txBox="1"/>
          <p:nvPr/>
        </p:nvSpPr>
        <p:spPr>
          <a:xfrm>
            <a:off x="411480" y="292608"/>
            <a:ext cx="804672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dirty="0" err="1">
                <a:solidFill>
                  <a:srgbClr val="121212"/>
                </a:solidFill>
                <a:latin typeface="Times New Roman"/>
              </a:rPr>
              <a:t>Метод</a:t>
            </a:r>
            <a:r>
              <a:rPr sz="2800" dirty="0">
                <a:solidFill>
                  <a:srgbClr val="121212"/>
                </a:solidFill>
                <a:latin typeface="Times New Roman"/>
              </a:rPr>
              <a:t> </a:t>
            </a:r>
            <a:r>
              <a:rPr sz="2800" dirty="0" err="1">
                <a:solidFill>
                  <a:srgbClr val="121212"/>
                </a:solidFill>
                <a:latin typeface="Times New Roman"/>
              </a:rPr>
              <a:t>обробки</a:t>
            </a:r>
            <a:r>
              <a:rPr sz="2800" dirty="0">
                <a:solidFill>
                  <a:srgbClr val="121212"/>
                </a:solidFill>
                <a:latin typeface="Times New Roman"/>
              </a:rPr>
              <a:t> </a:t>
            </a:r>
            <a:r>
              <a:rPr sz="2800" dirty="0" err="1">
                <a:solidFill>
                  <a:srgbClr val="121212"/>
                </a:solidFill>
                <a:latin typeface="Times New Roman"/>
              </a:rPr>
              <a:t>команд</a:t>
            </a:r>
            <a:r>
              <a:rPr sz="2800" dirty="0">
                <a:solidFill>
                  <a:srgbClr val="121212"/>
                </a:solidFill>
                <a:latin typeface="Times New Roman"/>
              </a:rPr>
              <a:t> </a:t>
            </a:r>
            <a:r>
              <a:rPr sz="2800" dirty="0" err="1">
                <a:solidFill>
                  <a:srgbClr val="121212"/>
                </a:solidFill>
                <a:latin typeface="Times New Roman"/>
              </a:rPr>
              <a:t>відтворення</a:t>
            </a:r>
            <a:r>
              <a:rPr sz="2800" dirty="0">
                <a:solidFill>
                  <a:srgbClr val="121212"/>
                </a:solidFill>
                <a:latin typeface="Times New Roman"/>
              </a:rPr>
              <a:t> </a:t>
            </a:r>
            <a:r>
              <a:rPr sz="2800" dirty="0" err="1">
                <a:solidFill>
                  <a:srgbClr val="121212"/>
                </a:solidFill>
                <a:latin typeface="Times New Roman"/>
              </a:rPr>
              <a:t>відео</a:t>
            </a:r>
            <a:endParaRPr sz="2800" dirty="0">
              <a:solidFill>
                <a:srgbClr val="121212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826913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25" descr="image.png">
            <a:extLst>
              <a:ext uri="{FF2B5EF4-FFF2-40B4-BE49-F238E27FC236}">
                <a16:creationId xmlns:a16="http://schemas.microsoft.com/office/drawing/2014/main" id="{5D598AA3-DF53-98D2-C495-D4818F70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31" y="372156"/>
            <a:ext cx="650000" cy="43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2DF221-BDBE-5DAE-6401-19FC95EE0F9A}"/>
              </a:ext>
            </a:extLst>
          </p:cNvPr>
          <p:cNvSpPr txBox="1"/>
          <p:nvPr/>
        </p:nvSpPr>
        <p:spPr>
          <a:xfrm>
            <a:off x="411480" y="292608"/>
            <a:ext cx="8046720" cy="502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/>
            <a:r>
              <a:rPr sz="2500" b="1" dirty="0" err="1">
                <a:solidFill>
                  <a:srgbClr val="000000"/>
                </a:solidFill>
                <a:latin typeface="Times New Roman"/>
              </a:rPr>
              <a:t>Метод</a:t>
            </a:r>
            <a:r>
              <a:rPr sz="25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500" b="1" dirty="0" err="1">
                <a:solidFill>
                  <a:srgbClr val="000000"/>
                </a:solidFill>
                <a:latin typeface="Times New Roman"/>
              </a:rPr>
              <a:t>вибору</a:t>
            </a:r>
            <a:r>
              <a:rPr sz="25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500" b="1" dirty="0" err="1">
                <a:solidFill>
                  <a:srgbClr val="000000"/>
                </a:solidFill>
                <a:latin typeface="Times New Roman"/>
              </a:rPr>
              <a:t>медіа</a:t>
            </a:r>
            <a:r>
              <a:rPr sz="25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500" b="1" dirty="0" err="1">
                <a:solidFill>
                  <a:srgbClr val="000000"/>
                </a:solidFill>
                <a:latin typeface="Times New Roman"/>
              </a:rPr>
              <a:t>для</a:t>
            </a:r>
            <a:r>
              <a:rPr sz="25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500" b="1" dirty="0" err="1">
                <a:solidFill>
                  <a:srgbClr val="000000"/>
                </a:solidFill>
                <a:latin typeface="Times New Roman"/>
              </a:rPr>
              <a:t>перегляду</a:t>
            </a:r>
            <a:endParaRPr sz="25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F4302E17-4F6B-C8D4-41C6-FCA23A4506DD}"/>
              </a:ext>
            </a:extLst>
          </p:cNvPr>
          <p:cNvSpPr/>
          <p:nvPr/>
        </p:nvSpPr>
        <p:spPr>
          <a:xfrm>
            <a:off x="411480" y="932688"/>
            <a:ext cx="7680960" cy="9144"/>
          </a:xfrm>
          <a:prstGeom prst="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1033271"/>
            <a:ext cx="763524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400" b="0" dirty="0" err="1">
                <a:solidFill>
                  <a:srgbClr val="282828"/>
                </a:solidFill>
                <a:latin typeface="Times New Roman"/>
              </a:rPr>
              <a:t>Алгоритм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спочатку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шукає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відео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серед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наявних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медіа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платформи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;
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якщо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збігу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немає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—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переходить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до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сторонніх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 </a:t>
            </a:r>
            <a:r>
              <a:rPr sz="1400" b="0" dirty="0" err="1">
                <a:solidFill>
                  <a:srgbClr val="282828"/>
                </a:solidFill>
                <a:latin typeface="Times New Roman"/>
              </a:rPr>
              <a:t>сервісів</a:t>
            </a:r>
            <a:r>
              <a:rPr sz="1400" b="0" dirty="0">
                <a:solidFill>
                  <a:srgbClr val="282828"/>
                </a:solidFill>
                <a:latin typeface="Times New Roman"/>
              </a:rPr>
              <a:t>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32020" y="1984248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32020" y="2468880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32020" y="2953512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732020" y="3438144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00400" y="1627632"/>
            <a:ext cx="3063240" cy="356616"/>
          </a:xfrm>
          <a:prstGeom prst="roundRect">
            <a:avLst/>
          </a:prstGeom>
          <a:solidFill>
            <a:srgbClr val="F6F6F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346704" y="1677924"/>
            <a:ext cx="201168" cy="20116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6704" y="1687982"/>
            <a:ext cx="201168" cy="14630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1677924"/>
            <a:ext cx="2532888" cy="28346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20" b="1">
                <a:solidFill>
                  <a:srgbClr val="000000"/>
                </a:solidFill>
                <a:latin typeface="Times New Roman"/>
              </a:rPr>
              <a:t>Отримання запиту або URL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2112264"/>
            <a:ext cx="3063240" cy="356616"/>
          </a:xfrm>
          <a:prstGeom prst="roundRect">
            <a:avLst/>
          </a:prstGeom>
          <a:solidFill>
            <a:srgbClr val="F6F6F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346704" y="2162556"/>
            <a:ext cx="201168" cy="20116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46704" y="2172614"/>
            <a:ext cx="201168" cy="14630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9312" y="2162556"/>
            <a:ext cx="2532888" cy="28346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20" b="1">
                <a:solidFill>
                  <a:srgbClr val="000000"/>
                </a:solidFill>
                <a:latin typeface="Times New Roman"/>
              </a:rPr>
              <a:t>Пошук у MediaItems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0" y="2596896"/>
            <a:ext cx="3063240" cy="356616"/>
          </a:xfrm>
          <a:prstGeom prst="roundRect">
            <a:avLst/>
          </a:prstGeom>
          <a:solidFill>
            <a:srgbClr val="F6F6F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346704" y="2647188"/>
            <a:ext cx="201168" cy="20116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46704" y="2657246"/>
            <a:ext cx="201168" cy="14630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9312" y="2647188"/>
            <a:ext cx="2532888" cy="28346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20" b="1">
                <a:solidFill>
                  <a:srgbClr val="000000"/>
                </a:solidFill>
                <a:latin typeface="Times New Roman"/>
              </a:rPr>
              <a:t>Перевірка: медіа знайдено?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3081528"/>
            <a:ext cx="3063240" cy="356616"/>
          </a:xfrm>
          <a:prstGeom prst="roundRect">
            <a:avLst/>
          </a:prstGeom>
          <a:solidFill>
            <a:srgbClr val="F6F6F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346704" y="3131820"/>
            <a:ext cx="201168" cy="20116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6704" y="3141878"/>
            <a:ext cx="201168" cy="14630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9312" y="3131820"/>
            <a:ext cx="2532888" cy="28346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120" b="1">
                <a:solidFill>
                  <a:srgbClr val="000000"/>
                </a:solidFill>
                <a:latin typeface="Times New Roman"/>
              </a:rPr>
              <a:t>Якщо ні — перехід
до external source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3566160"/>
            <a:ext cx="3063240" cy="356616"/>
          </a:xfrm>
          <a:prstGeom prst="roundRect">
            <a:avLst/>
          </a:prstGeom>
          <a:solidFill>
            <a:srgbClr val="F6F6F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346704" y="3616452"/>
            <a:ext cx="201168" cy="20116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46704" y="3626510"/>
            <a:ext cx="201168" cy="14630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39312" y="3616452"/>
            <a:ext cx="2532888" cy="28346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120" b="1">
                <a:solidFill>
                  <a:srgbClr val="000000"/>
                </a:solidFill>
                <a:latin typeface="Times New Roman"/>
              </a:rPr>
              <a:t>Формування даних
для черги / плеєра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1709928"/>
            <a:ext cx="2194560" cy="212140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6656" y="1874519"/>
            <a:ext cx="1810512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/>
            <a:r>
              <a:rPr sz="1350" b="1" dirty="0" err="1">
                <a:solidFill>
                  <a:srgbClr val="000000"/>
                </a:solidFill>
                <a:latin typeface="Times New Roman"/>
              </a:rPr>
              <a:t>Локальні</a:t>
            </a:r>
            <a:r>
              <a:rPr sz="135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50" b="1" dirty="0" err="1">
                <a:solidFill>
                  <a:srgbClr val="000000"/>
                </a:solidFill>
                <a:latin typeface="Times New Roman"/>
              </a:rPr>
              <a:t>джерела</a:t>
            </a:r>
            <a:endParaRPr sz="1350" b="1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621792" y="2221992"/>
            <a:ext cx="1956816" cy="0"/>
          </a:xfrm>
          <a:prstGeom prst="line">
            <a:avLst/>
          </a:prstGeom>
          <a:ln w="762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1" y="2269656"/>
            <a:ext cx="1874519" cy="5029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40" b="0" dirty="0">
                <a:solidFill>
                  <a:srgbClr val="000000"/>
                </a:solidFill>
                <a:latin typeface="Times New Roman"/>
              </a:rPr>
              <a:t>•  MEDIA_ITEMS
•  WATCH_QUEUE
•  </a:t>
            </a:r>
            <a:r>
              <a:rPr sz="1240" b="0" dirty="0" err="1">
                <a:solidFill>
                  <a:srgbClr val="000000"/>
                </a:solidFill>
                <a:latin typeface="Times New Roman"/>
              </a:rPr>
              <a:t>збережені</a:t>
            </a:r>
            <a:r>
              <a:rPr sz="124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40" b="0" dirty="0" err="1">
                <a:solidFill>
                  <a:srgbClr val="000000"/>
                </a:solidFill>
                <a:latin typeface="Times New Roman"/>
              </a:rPr>
              <a:t>метадані</a:t>
            </a:r>
            <a:endParaRPr sz="1240" b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621792" y="2898648"/>
            <a:ext cx="1956816" cy="0"/>
          </a:xfrm>
          <a:prstGeom prst="line">
            <a:avLst/>
          </a:prstGeom>
          <a:ln w="635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67512" y="3054096"/>
            <a:ext cx="146304" cy="14630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2084" y="3040379"/>
            <a:ext cx="137160" cy="12801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Times New Roman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" y="3035808"/>
            <a:ext cx="1600200" cy="1828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130" b="0">
                <a:solidFill>
                  <a:srgbClr val="000000"/>
                </a:solidFill>
                <a:latin typeface="Times New Roman"/>
              </a:rPr>
              <a:t>готовий запис MediaItem</a:t>
            </a:r>
          </a:p>
        </p:txBody>
      </p:sp>
      <p:sp>
        <p:nvSpPr>
          <p:cNvPr id="58" name="Oval 57"/>
          <p:cNvSpPr/>
          <p:nvPr/>
        </p:nvSpPr>
        <p:spPr>
          <a:xfrm>
            <a:off x="667512" y="3310127"/>
            <a:ext cx="146304" cy="14630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2084" y="3296411"/>
            <a:ext cx="137160" cy="12801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Times New Roman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" y="3291839"/>
            <a:ext cx="1600200" cy="1828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130" b="0">
                <a:solidFill>
                  <a:srgbClr val="000000"/>
                </a:solidFill>
                <a:latin typeface="Times New Roman"/>
              </a:rPr>
              <a:t>без повторного пошуку</a:t>
            </a:r>
          </a:p>
        </p:txBody>
      </p:sp>
      <p:sp>
        <p:nvSpPr>
          <p:cNvPr id="61" name="Oval 60"/>
          <p:cNvSpPr/>
          <p:nvPr/>
        </p:nvSpPr>
        <p:spPr>
          <a:xfrm>
            <a:off x="667512" y="3566160"/>
            <a:ext cx="146304" cy="14630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72084" y="3552444"/>
            <a:ext cx="137160" cy="12801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Times New Roman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" y="3547872"/>
            <a:ext cx="1600200" cy="1828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130" b="0">
                <a:solidFill>
                  <a:srgbClr val="000000"/>
                </a:solidFill>
                <a:latin typeface="Times New Roman"/>
              </a:rPr>
              <a:t>одразу до черги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1669088"/>
            <a:ext cx="2057400" cy="212140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75120" y="1874519"/>
            <a:ext cx="1792224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Зовнішні джерела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675120" y="2221992"/>
            <a:ext cx="1773936" cy="0"/>
          </a:xfrm>
          <a:prstGeom prst="line">
            <a:avLst/>
          </a:prstGeom>
          <a:ln w="762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766560" y="2302154"/>
            <a:ext cx="1554480" cy="51206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40" b="0" dirty="0">
                <a:solidFill>
                  <a:srgbClr val="000000"/>
                </a:solidFill>
                <a:latin typeface="Times New Roman"/>
              </a:rPr>
              <a:t>•  YouTube
•  direct URL
•  media link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675120" y="2898648"/>
            <a:ext cx="1773936" cy="0"/>
          </a:xfrm>
          <a:prstGeom prst="line">
            <a:avLst/>
          </a:prstGeom>
          <a:ln w="635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6711696" y="3072384"/>
            <a:ext cx="146304" cy="14630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716268" y="3061411"/>
            <a:ext cx="137160" cy="12801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Times New Roman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3044952"/>
            <a:ext cx="1325880" cy="2743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130" b="0">
                <a:solidFill>
                  <a:srgbClr val="000000"/>
                </a:solidFill>
                <a:latin typeface="Times New Roman"/>
              </a:rPr>
              <a:t>перевірка посилання</a:t>
            </a:r>
          </a:p>
        </p:txBody>
      </p:sp>
      <p:sp>
        <p:nvSpPr>
          <p:cNvPr id="72" name="Oval 71"/>
          <p:cNvSpPr/>
          <p:nvPr/>
        </p:nvSpPr>
        <p:spPr>
          <a:xfrm>
            <a:off x="6711696" y="3401568"/>
            <a:ext cx="146304" cy="14630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716268" y="3390595"/>
            <a:ext cx="137160" cy="12801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Times New Roman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0" y="3374136"/>
            <a:ext cx="1325880" cy="2743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130" b="0">
                <a:solidFill>
                  <a:srgbClr val="000000"/>
                </a:solidFill>
                <a:latin typeface="Times New Roman"/>
              </a:rPr>
              <a:t>метадані для
відтворення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" y="4151376"/>
            <a:ext cx="7498079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033271" y="4270248"/>
            <a:ext cx="201168" cy="201168"/>
          </a:xfrm>
          <a:prstGeom prst="ellipse">
            <a:avLst/>
          </a:prstGeom>
          <a:solidFill>
            <a:srgbClr val="FFEEAA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3271" y="4261104"/>
            <a:ext cx="201168" cy="18288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019" b="1">
                <a:solidFill>
                  <a:srgbClr val="000000"/>
                </a:solidFill>
                <a:latin typeface="Times New Roman"/>
              </a:rPr>
              <a:t>!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71600" y="4270248"/>
            <a:ext cx="128016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00" b="1" dirty="0" err="1">
                <a:solidFill>
                  <a:srgbClr val="000000"/>
                </a:solidFill>
                <a:latin typeface="Times New Roman"/>
              </a:rPr>
              <a:t>Ключова</a:t>
            </a:r>
            <a:r>
              <a:rPr sz="1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Times New Roman"/>
              </a:rPr>
              <a:t>ідея</a:t>
            </a:r>
            <a:r>
              <a:rPr sz="1200" b="1" dirty="0">
                <a:solidFill>
                  <a:srgbClr val="000000"/>
                </a:solidFill>
                <a:latin typeface="Times New Roman"/>
              </a:rPr>
              <a:t>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97480" y="4251960"/>
            <a:ext cx="5440680" cy="31089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180" b="0">
                <a:solidFill>
                  <a:srgbClr val="000000"/>
                </a:solidFill>
                <a:latin typeface="Times New Roman"/>
              </a:rPr>
              <a:t>пріоритет — наявним медіа; сторонні сервіси використовуються
лише тоді, коли локального запису не знайдено.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32520" y="4617720"/>
            <a:ext cx="256032" cy="18288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0315809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832104"/>
          </a:xfrm>
        </p:spPr>
        <p:txBody>
          <a:bodyPr/>
          <a:lstStyle/>
          <a:p>
            <a:pPr algn="l"/>
            <a:r>
              <a:rPr lang="en-US" sz="2000" b="0" dirty="0">
                <a:solidFill>
                  <a:srgbClr val="000000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uk-UA" sz="2000" b="0" dirty="0">
                <a:solidFill>
                  <a:srgbClr val="000000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діаграми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BAC34-2C38-C625-C3F8-8E09CC315ED1}"/>
              </a:ext>
            </a:extLst>
          </p:cNvPr>
          <p:cNvSpPr txBox="1"/>
          <p:nvPr/>
        </p:nvSpPr>
        <p:spPr>
          <a:xfrm>
            <a:off x="953966" y="1328057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  <p:sp>
        <p:nvSpPr>
          <p:cNvPr id="5" name="Стрілка: вправо 4">
            <a:extLst>
              <a:ext uri="{FF2B5EF4-FFF2-40B4-BE49-F238E27FC236}">
                <a16:creationId xmlns:a16="http://schemas.microsoft.com/office/drawing/2014/main" id="{0EE0BB63-4E85-AB9B-0062-1FBF1A555FE0}"/>
              </a:ext>
            </a:extLst>
          </p:cNvPr>
          <p:cNvSpPr/>
          <p:nvPr/>
        </p:nvSpPr>
        <p:spPr>
          <a:xfrm>
            <a:off x="2149719" y="1426993"/>
            <a:ext cx="509954" cy="109904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D72CA7-EFC8-E1CC-A6C2-B45A3251AD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026" y="55001"/>
            <a:ext cx="5482974" cy="475290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509730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263B93F8-407C-20E8-E864-6FE2F6C2D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0"/>
            <a:ext cx="8522208" cy="832104"/>
          </a:xfrm>
        </p:spPr>
        <p:txBody>
          <a:bodyPr/>
          <a:lstStyle/>
          <a:p>
            <a:pPr algn="l"/>
            <a:r>
              <a:rPr lang="uk-UA" sz="2000" b="0" dirty="0">
                <a:solidFill>
                  <a:srgbClr val="000000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Інтерфейс користувача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CA98A2-8E01-E72F-7098-B762C4231F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769" y="1133379"/>
            <a:ext cx="4290500" cy="2876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CD3280-1D8D-2B67-4E88-35D07FEF75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8" y="1133379"/>
            <a:ext cx="4031264" cy="2903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0136473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A43BD49-0975-6743-0A10-DD66BEF17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579" y="60416"/>
            <a:ext cx="2470369" cy="24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69AF1A-85E5-87A4-026B-96B699A7F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14" y="1510047"/>
            <a:ext cx="3496840" cy="25717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103206-0D95-FF85-FD10-DEB300D39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473" y="1288582"/>
            <a:ext cx="2578023" cy="25717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6063317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015946-8517-E4B9-96AE-2FCDC1E49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07" y="1414319"/>
            <a:ext cx="3955148" cy="115743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8D14BF6-AE2D-8553-9362-A5EDB9066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602" y="1416794"/>
            <a:ext cx="3618834" cy="127620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900" y="645269"/>
            <a:ext cx="859536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78240" y="4608576"/>
            <a:ext cx="2834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A9D249-1B82-3F3A-1E58-9A0231608A0E}"/>
              </a:ext>
            </a:extLst>
          </p:cNvPr>
          <p:cNvSpPr txBox="1"/>
          <p:nvPr/>
        </p:nvSpPr>
        <p:spPr>
          <a:xfrm>
            <a:off x="502920" y="38404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dirty="0" err="1">
                <a:solidFill>
                  <a:srgbClr val="000000"/>
                </a:solidFill>
                <a:latin typeface="Times New Roman"/>
              </a:rPr>
              <a:t>Модульне</a:t>
            </a:r>
            <a:r>
              <a:rPr sz="3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3000" b="0" dirty="0" err="1">
                <a:solidFill>
                  <a:srgbClr val="000000"/>
                </a:solidFill>
                <a:latin typeface="Times New Roman"/>
              </a:rPr>
              <a:t>та</a:t>
            </a:r>
            <a:r>
              <a:rPr sz="3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3000" b="0" dirty="0" err="1">
                <a:solidFill>
                  <a:srgbClr val="000000"/>
                </a:solidFill>
                <a:latin typeface="Times New Roman"/>
              </a:rPr>
              <a:t>інтеграційне</a:t>
            </a:r>
            <a:r>
              <a:rPr sz="3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3000" b="0" dirty="0" err="1">
                <a:solidFill>
                  <a:srgbClr val="000000"/>
                </a:solidFill>
                <a:latin typeface="Times New Roman"/>
              </a:rPr>
              <a:t>тестування</a:t>
            </a:r>
            <a:endParaRPr sz="3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68E29-B483-06CA-C923-682D4F6E73F1}"/>
              </a:ext>
            </a:extLst>
          </p:cNvPr>
          <p:cNvSpPr txBox="1"/>
          <p:nvPr/>
        </p:nvSpPr>
        <p:spPr>
          <a:xfrm>
            <a:off x="713232" y="2944368"/>
            <a:ext cx="7818120" cy="152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0" dirty="0" err="1">
                <a:solidFill>
                  <a:srgbClr val="000000"/>
                </a:solidFill>
                <a:latin typeface="Times New Roman"/>
              </a:rPr>
              <a:t>Проведено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перевірку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основних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модулів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платформи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WatchTogether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algn="l">
              <a:buChar char="•"/>
            </a:pPr>
            <a:r>
              <a:rPr lang="ru-RU"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модульне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тестування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серверної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логіки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з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використанням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JUnit 5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та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Mockito;</a:t>
            </a:r>
          </a:p>
          <a:p>
            <a:pPr algn="l">
              <a:buChar char="•"/>
            </a:pPr>
            <a:r>
              <a:rPr lang="ru-RU"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інтеграційне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тестування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REST API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за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допомогою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Spring Boot Test і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MockMvc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;</a:t>
            </a:r>
          </a:p>
          <a:p>
            <a:pPr algn="l">
              <a:buChar char="•"/>
            </a:pPr>
            <a:r>
              <a:rPr lang="ru-RU"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тестування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клієнтської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частини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з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використанням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Jest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та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React Testing Library.</a:t>
            </a:r>
          </a:p>
          <a:p>
            <a:pPr algn="l"/>
            <a:endParaRPr sz="1420" b="0" dirty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420" b="0" dirty="0" err="1">
                <a:solidFill>
                  <a:srgbClr val="000000"/>
                </a:solidFill>
                <a:latin typeface="Times New Roman"/>
              </a:rPr>
              <a:t>Перевірено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авторизацію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кімнати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перегляду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чат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обробку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медіапосилань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, WebSocket-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події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та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синхронізацію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відео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Усі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перевірені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сценарії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виконано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20" b="0" dirty="0" err="1">
                <a:solidFill>
                  <a:srgbClr val="000000"/>
                </a:solidFill>
                <a:latin typeface="Times New Roman"/>
              </a:rPr>
              <a:t>успішно</a:t>
            </a:r>
            <a:r>
              <a:rPr sz="1420" b="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355407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5" y="284892"/>
            <a:ext cx="852220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 навантаженням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78608"/>
            <a:ext cx="1965960" cy="713232"/>
          </a:xfrm>
          <a:prstGeom prst="rect">
            <a:avLst/>
          </a:prstGeom>
          <a:solidFill>
            <a:srgbClr val="EEEEEE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</a:p>
          <a:p>
            <a:pPr algn="ctr"/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віртуальних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endParaRPr sz="1300" dirty="0">
              <a:solidFill>
                <a:srgbClr val="2D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16352" y="2578608"/>
            <a:ext cx="1965960" cy="713232"/>
          </a:xfrm>
          <a:prstGeom prst="rect">
            <a:avLst/>
          </a:prstGeom>
          <a:solidFill>
            <a:srgbClr val="EEEEEE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9 859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оброблені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запити</a:t>
            </a:r>
            <a:endParaRPr sz="1300" dirty="0">
              <a:solidFill>
                <a:srgbClr val="2D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46904" y="2578608"/>
            <a:ext cx="1965960" cy="713232"/>
          </a:xfrm>
          <a:prstGeom prst="rect">
            <a:avLst/>
          </a:prstGeom>
          <a:solidFill>
            <a:srgbClr val="EEEEEE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запити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секунду</a:t>
            </a:r>
            <a:endParaRPr sz="1300" dirty="0">
              <a:solidFill>
                <a:srgbClr val="2D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77456" y="2578608"/>
            <a:ext cx="1965960" cy="713232"/>
          </a:xfrm>
          <a:prstGeom prst="rect">
            <a:avLst/>
          </a:prstGeom>
          <a:solidFill>
            <a:srgbClr val="EEEEEE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,43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</a:t>
            </a:r>
          </a:p>
          <a:p>
            <a:pPr algn="ctr"/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середній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відповіді</a:t>
            </a:r>
            <a:endParaRPr sz="1300" dirty="0">
              <a:solidFill>
                <a:srgbClr val="2D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3529584"/>
            <a:ext cx="7909560" cy="1329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Навантажувальне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виконано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перевірки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стабільності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серверної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частини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одночасної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великої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кількості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Перевірялися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сценарії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авторизації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списку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кімнат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приєднання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кімнати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робота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REST API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дії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sz="144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Отримані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підтверджують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здатна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стабільно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обробляти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значне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навантаження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зберігати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прийнятний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4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відповіді</a:t>
            </a:r>
            <a:r>
              <a:rPr sz="144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46661E0-9B3D-2244-4589-48DB25EC3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509" y="986436"/>
            <a:ext cx="4986981" cy="14733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436" y="246888"/>
            <a:ext cx="859536" cy="5852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74445" y="4608576"/>
            <a:ext cx="28725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0000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765994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3" descr="image.png">
            <a:extLst>
              <a:ext uri="{FF2B5EF4-FFF2-40B4-BE49-F238E27FC236}">
                <a16:creationId xmlns:a16="http://schemas.microsoft.com/office/drawing/2014/main" id="{E39DD6C9-805C-E58D-156D-02E8D0063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080" y="379700"/>
            <a:ext cx="650000" cy="43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4048" y="475488"/>
            <a:ext cx="475488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Times New Roman"/>
              </a:rPr>
              <a:t>Підсумок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987552"/>
            <a:ext cx="7818120" cy="22860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170432"/>
            <a:ext cx="7616952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 dirty="0">
                <a:solidFill>
                  <a:srgbClr val="000000"/>
                </a:solidFill>
                <a:latin typeface="Times New Roman"/>
              </a:rPr>
              <a:t>У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результаті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виконання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роботи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було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створено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платформу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WatchTogether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для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спільного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перегляду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відео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та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фільмів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у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режимі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реального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Times New Roman"/>
              </a:rPr>
              <a:t>часу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783080"/>
            <a:ext cx="3977639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1783080"/>
            <a:ext cx="64008" cy="2468880"/>
          </a:xfrm>
          <a:prstGeom prst="rect">
            <a:avLst/>
          </a:prstGeom>
          <a:solidFill>
            <a:srgbClr val="0074A0"/>
          </a:solidFill>
          <a:ln>
            <a:solidFill>
              <a:srgbClr val="00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86384" y="198424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2034540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0074A0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1956816"/>
            <a:ext cx="265176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Times New Roman"/>
              </a:rPr>
              <a:t>Реалізовано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239572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58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2446020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35814E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414016"/>
            <a:ext cx="306324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Times New Roman"/>
              </a:rPr>
              <a:t>JWT-авторизація користувачів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" y="272491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58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2775204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35814E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743200"/>
            <a:ext cx="306324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Times New Roman"/>
              </a:rPr>
              <a:t>публічні та приватні кімнати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305409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58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3104388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35814E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072384"/>
            <a:ext cx="306324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Times New Roman"/>
              </a:rPr>
              <a:t>синхронізація PLAY / PAUSE / SEEK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" y="3383279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58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3433572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35814E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401568"/>
            <a:ext cx="306324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Times New Roman"/>
              </a:rPr>
              <a:t>чат, черга, сповіщення та керування</a:t>
            </a:r>
          </a:p>
        </p:txBody>
      </p:sp>
      <p:sp>
        <p:nvSpPr>
          <p:cNvPr id="34" name="Oval 33"/>
          <p:cNvSpPr/>
          <p:nvPr/>
        </p:nvSpPr>
        <p:spPr>
          <a:xfrm>
            <a:off x="786384" y="3712463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58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3762755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35814E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3730751"/>
            <a:ext cx="306324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Times New Roman"/>
              </a:rPr>
              <a:t>адаптивний інтерфейс на React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1783080"/>
            <a:ext cx="3611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92040" y="1783080"/>
            <a:ext cx="64008" cy="2468880"/>
          </a:xfrm>
          <a:prstGeom prst="rect">
            <a:avLst/>
          </a:prstGeom>
          <a:solidFill>
            <a:srgbClr val="EC8B2A"/>
          </a:solidFill>
          <a:ln>
            <a:solidFill>
              <a:srgbClr val="E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102352" y="198424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02352" y="2034540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EC8B2A"/>
                </a:solidFill>
                <a:latin typeface="Arial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04688" y="1956816"/>
            <a:ext cx="246888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</a:rPr>
              <a:t>Перспективи розвитку</a:t>
            </a:r>
          </a:p>
        </p:txBody>
      </p:sp>
      <p:sp>
        <p:nvSpPr>
          <p:cNvPr id="42" name="Oval 41"/>
          <p:cNvSpPr/>
          <p:nvPr/>
        </p:nvSpPr>
        <p:spPr>
          <a:xfrm>
            <a:off x="5138928" y="245059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38928" y="2500884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EC8B2A"/>
                </a:solidFill>
                <a:latin typeface="Arial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2464308"/>
            <a:ext cx="256032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Times New Roman"/>
              </a:rPr>
              <a:t>мобільний застосунок</a:t>
            </a:r>
          </a:p>
        </p:txBody>
      </p:sp>
      <p:sp>
        <p:nvSpPr>
          <p:cNvPr id="45" name="Oval 44"/>
          <p:cNvSpPr/>
          <p:nvPr/>
        </p:nvSpPr>
        <p:spPr>
          <a:xfrm>
            <a:off x="5138928" y="2843784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38928" y="2894076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EC8B2A"/>
                </a:solidFill>
                <a:latin typeface="Arial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41264" y="2857500"/>
            <a:ext cx="256032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Times New Roman"/>
              </a:rPr>
              <a:t>розширення медіаджерел</a:t>
            </a:r>
          </a:p>
        </p:txBody>
      </p:sp>
      <p:sp>
        <p:nvSpPr>
          <p:cNvPr id="48" name="Oval 47"/>
          <p:cNvSpPr/>
          <p:nvPr/>
        </p:nvSpPr>
        <p:spPr>
          <a:xfrm>
            <a:off x="5138928" y="323697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38928" y="3287268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EC8B2A"/>
                </a:solidFill>
                <a:latin typeface="Arial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41264" y="3250692"/>
            <a:ext cx="256032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Times New Roman"/>
              </a:rPr>
              <a:t>масштабування WebSocket</a:t>
            </a:r>
          </a:p>
        </p:txBody>
      </p:sp>
      <p:sp>
        <p:nvSpPr>
          <p:cNvPr id="51" name="Oval 50"/>
          <p:cNvSpPr/>
          <p:nvPr/>
        </p:nvSpPr>
        <p:spPr>
          <a:xfrm>
            <a:off x="5138928" y="363016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38928" y="3680460"/>
            <a:ext cx="329184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EC8B2A"/>
                </a:solidFill>
                <a:latin typeface="Arial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41264" y="3643884"/>
            <a:ext cx="256032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Times New Roman"/>
              </a:rPr>
              <a:t>система сповіщень і тарифних планів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" y="4443984"/>
            <a:ext cx="7269480" cy="4114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60704" y="4489704"/>
            <a:ext cx="292608" cy="292608"/>
          </a:xfrm>
          <a:prstGeom prst="ellipse">
            <a:avLst/>
          </a:prstGeom>
          <a:solidFill>
            <a:srgbClr val="FFF9E8"/>
          </a:solidFill>
          <a:ln>
            <a:solidFill>
              <a:srgbClr val="E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60704" y="4526280"/>
            <a:ext cx="292608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EC8B2A"/>
                </a:solidFill>
                <a:latin typeface="Arial"/>
              </a:rPr>
              <a:t>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96832" y="4432915"/>
            <a:ext cx="6669620" cy="4462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30" b="0" dirty="0" err="1">
                <a:solidFill>
                  <a:srgbClr val="000000"/>
                </a:solidFill>
                <a:latin typeface="Times New Roman"/>
              </a:rPr>
              <a:t>Проведене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тестування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підтвердило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коректність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основних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сценаріїв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і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готовність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системи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до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подальшого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30" b="0" dirty="0" err="1">
                <a:solidFill>
                  <a:srgbClr val="000000"/>
                </a:solidFill>
                <a:latin typeface="Times New Roman"/>
              </a:rPr>
              <a:t>розширення</a:t>
            </a:r>
            <a:r>
              <a:rPr sz="1330" b="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4645152"/>
            <a:ext cx="228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  <a:latin typeface="Times New Roma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63123882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1087</Words>
  <Application>Microsoft Office PowerPoint</Application>
  <PresentationFormat>Экран (16:9)</PresentationFormat>
  <Paragraphs>292</Paragraphs>
  <Slides>17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Times New Roman</vt:lpstr>
      <vt:lpstr>Commissioner</vt:lpstr>
      <vt:lpstr>Golos Text</vt:lpstr>
      <vt:lpstr>Arial</vt:lpstr>
      <vt:lpstr>Golos Text SemiBold</vt:lpstr>
      <vt:lpstr>Formulating a Research Problem for University Students by Slidesgo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Діаграма прецедентів, яка демонструє взаємодію користувачів із системою</vt:lpstr>
      <vt:lpstr>Використані технології</vt:lpstr>
      <vt:lpstr>Презентация PowerPoint</vt:lpstr>
      <vt:lpstr>Презентация PowerPoint</vt:lpstr>
      <vt:lpstr>Презентация PowerPoint</vt:lpstr>
      <vt:lpstr>Презентация PowerPoint</vt:lpstr>
      <vt:lpstr>ER-діаграми</vt:lpstr>
      <vt:lpstr>Інтерфейс користувача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платформа для соціальної взаємодії з гібридним алгоритмом рекомендацій та функціональністю контент-менеджменту і модерації</dc:title>
  <dc:creator>kirikosha</dc:creator>
  <cp:lastModifiedBy>Игорь Моргунов</cp:lastModifiedBy>
  <cp:revision>56</cp:revision>
  <dcterms:modified xsi:type="dcterms:W3CDTF">2026-07-14T10:07:24Z</dcterms:modified>
</cp:coreProperties>
</file>